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7" r:id="rId22"/>
    <p:sldId id="278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0" y="274320"/>
            <a:ext cx="3200400" cy="320040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FFFFFF"/>
                </a:solidFill>
                <a:latin typeface="Calibri"/>
              </a:rPr>
              <a:t>Hotel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solidFill>
                  <a:srgbClr val="F0C02F"/>
                </a:solidFill>
                <a:latin typeface="Calibri"/>
              </a:rPr>
              <a:t>Desktop Application  |  C# Windows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dirty="0">
                <a:solidFill>
                  <a:srgbClr val="CCDDFF"/>
                </a:solidFill>
                <a:latin typeface="Calibri"/>
              </a:rPr>
              <a:t>Layered Architecture  ·  5 Design Patterns  ·  12 Operational Forms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206240"/>
            <a:ext cx="1783080" cy="502920"/>
          </a:xfrm>
          <a:prstGeom prst="rect">
            <a:avLst/>
          </a:prstGeom>
          <a:solidFill>
            <a:srgbClr val="1F3A7A"/>
          </a:solidFill>
          <a:ln w="12700">
            <a:solidFill>
              <a:srgbClr val="F0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22452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0C02F"/>
                </a:solidFill>
                <a:latin typeface="Calibri"/>
              </a:rPr>
              <a:t>Objective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206240"/>
            <a:ext cx="1783080" cy="502920"/>
          </a:xfrm>
          <a:prstGeom prst="rect">
            <a:avLst/>
          </a:prstGeom>
          <a:solidFill>
            <a:srgbClr val="1F3A7A"/>
          </a:solidFill>
          <a:ln w="12700">
            <a:solidFill>
              <a:srgbClr val="F0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422452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0C02F"/>
                </a:solidFill>
                <a:latin typeface="Calibri"/>
              </a:rPr>
              <a:t>Functionalities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48970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CDDFF"/>
                </a:solidFill>
                <a:latin typeface="Calibri"/>
              </a:rPr>
              <a:t>Forms 1–12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4206240"/>
            <a:ext cx="1783080" cy="502920"/>
          </a:xfrm>
          <a:prstGeom prst="rect">
            <a:avLst/>
          </a:prstGeom>
          <a:solidFill>
            <a:srgbClr val="1F3A7A"/>
          </a:solidFill>
          <a:ln w="12700">
            <a:solidFill>
              <a:srgbClr val="F0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422452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0C02F"/>
                </a:solidFill>
                <a:latin typeface="Calibri"/>
              </a:rPr>
              <a:t>Design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48970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CDDFF"/>
                </a:solidFill>
                <a:latin typeface="Calibri"/>
              </a:rPr>
              <a:t>5 Patterns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4206240"/>
            <a:ext cx="1783080" cy="502920"/>
          </a:xfrm>
          <a:prstGeom prst="rect">
            <a:avLst/>
          </a:prstGeom>
          <a:solidFill>
            <a:srgbClr val="1F3A7A"/>
          </a:solidFill>
          <a:ln w="12700">
            <a:solidFill>
              <a:srgbClr val="F0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422452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0C02F"/>
                </a:solidFill>
                <a:latin typeface="Calibri"/>
              </a:rPr>
              <a:t>Conclusion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4206240"/>
            <a:ext cx="1783080" cy="502920"/>
          </a:xfrm>
          <a:prstGeom prst="rect">
            <a:avLst/>
          </a:prstGeom>
          <a:solidFill>
            <a:srgbClr val="1F3A7A"/>
          </a:solidFill>
          <a:ln w="12700">
            <a:solidFill>
              <a:srgbClr val="F0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422452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0C02F"/>
                </a:solidFill>
                <a:latin typeface="Calibri"/>
              </a:rPr>
              <a:t>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What the Hotel Management System is capable of doing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25780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25780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43560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C02F"/>
                </a:solidFill>
                <a:latin typeface="Calibri"/>
              </a:rPr>
              <a:t>System 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938528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The Hotel Management System is a comprehensive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C# Windows Forms desktop application designed to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digitize and streamline all daily hotel operations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from a single, unified interface.</a:t>
            </a:r>
          </a:p>
          <a:p>
            <a:pPr algn="l"/>
            <a:endParaRPr sz="1500" b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▸  Replaces manual paper-based hotel operations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▸  Reduces human error in booking &amp; billing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▸  Real-time visibility into hotel room status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▸  Automates housekeeping task assignment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▸  Role-based access: Admin · Receptionist · Housekeeping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417320"/>
            <a:ext cx="610819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1417320"/>
            <a:ext cx="6108192" cy="4572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435608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C02F"/>
                </a:solidFill>
                <a:latin typeface="Calibri"/>
              </a:rPr>
              <a:t>Core Capabilities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33872" y="1965960"/>
            <a:ext cx="6035040" cy="475488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07024" y="2011679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🔒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1167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Secure login, SHA-256 hashing, role-based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33872" y="2473452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07024" y="251917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👤 Guest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191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Register, search, edit guests &amp; view booking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33872" y="2980944"/>
            <a:ext cx="6035040" cy="475488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07024" y="3026663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🛏 Room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026663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4 room types, status tracking, visual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33872" y="3488436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07024" y="353415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📅 Booking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53415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Create, confirm, check-in / check-out, cancel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33872" y="3995928"/>
            <a:ext cx="6035040" cy="475488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07024" y="404164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🧾 Invoicing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04164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Auto-generate invoice, 10% tax, discount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3872" y="4503420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07024" y="45491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💳 Payment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5491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Cash &amp; Credit Card, styled receipt &amp; print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33872" y="5010912"/>
            <a:ext cx="6035040" cy="475488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07024" y="50566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🧹 Housekeeping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05663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Auto-create tasks on checkout, smart staff assignment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33872" y="5518404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07024" y="55641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👥 Staff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56412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CRUD accounts, role &amp; password management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33872" y="6025896"/>
            <a:ext cx="6035040" cy="475488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07024" y="607161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📊 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60716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Daily operations dashboard &amp; key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1 — Login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LoginForm.cs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Login Form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Entry point — authenticates users before granting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Username &amp; password fields with visibility toggle (🔒/👁)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SHA-256 + salt password hash verification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'Remember Me' stores credentials in app settings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On success → stores user in SessionManager &amp; opens MainForm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On failure → shows error, clears password field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Role-based access control: Admin / Receptionist / Housekeeping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Uses Singleton: SessionManager.CurrentUser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79830A6-028B-2FC0-D648-B64BA185E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92" y="1652658"/>
            <a:ext cx="4484815" cy="46929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2 — Main Form (MDI Hub)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MainForm.cs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Main Form (MDI Hub)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Central navigation container for all system 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MDI (Multiple Document Interface) parent window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Menu bar: Booking, Guest, Room, Housekeeping, Invoices,
  Payments, Reports, Settings, Admin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Status bar: current user, role, live clock (updates every second)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Initializes Observer pattern on startup: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  RoomSubject.Instance.Attach(new HousekeepingObserver())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Midnight-blue theme with Segoe UI typography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Observer pattern initialized here — central event hub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0C59EFB-20C7-EE87-805C-276EE7807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2054452"/>
            <a:ext cx="6272784" cy="33323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3 — Guest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GuestManagementForm.cs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Guest Management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Full CRUD interface for managing all hotel guests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DataGridView listing all active guests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Columns: Name, Email, Phone, ID Number, Nationality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Search by name, email, or phone number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Add Guest → opens AddEditGuestDialog (insert new record)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Edit Guest → opens dialog pre-populated with data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Delete Guest → soft delete (sets IsActive = 0)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View Details → opens GuestDetailsDialog (full profile)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Soft delete preserves history — data is never hard-deleted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D8C7A54-D2A0-AAB4-FF1A-DC1C97132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33142"/>
            <a:ext cx="6272784" cy="33323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4 — Room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RoomManagementForm.cs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Room Management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Manage hotel rooms with a visual status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Room list filterable by type and status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Add Room → RoomFactory.CreateRoom() (Factory Pattern)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4 types: Single · Double · Suite · Deluxe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Edit Room / Delete Room (soft delete → Maintenance)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Room Status Dashboard — color-coded card overview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Statuses: Available · Occupied · Reserved · Maintenance · Cleaning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Factory Pattern: room creation logic centralized in RoomFactory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D35E359-61F8-B085-0582-506757D226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02"/>
          <a:stretch>
            <a:fillRect/>
          </a:stretch>
        </p:blipFill>
        <p:spPr bwMode="auto">
          <a:xfrm>
            <a:off x="291325" y="2331574"/>
            <a:ext cx="6309360" cy="33674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5 — Booking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BookingListForm.cs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Booking List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Central hub for all booking operations and status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DataGridView with color-coded booking status rows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🟡 Pending  🟢 Confirmed  🔵 CheckedIn  ⚪ CheckedOut  �� Cancelled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Search &amp; filter by guest name, room number, or status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Check-In → validates status, sets room to Occupied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Check-Out → sets room to Cleaning, auto-generates invoice,
  triggers Observer (auto-creates housekeeping task)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Process Payment → opens PaymentForm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Cancel Booking → prompts reason, frees the room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Checkout triggers Observer → auto housekeeping task created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BF5F92C-137F-0380-233D-0E92B6B90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97394"/>
            <a:ext cx="6345935" cy="3371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6 — New Booking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NewBookingForm.cs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New Booking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Wizard-style form for creating new reservations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Guest selection from registered guest list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Room selection filtered by availability and date range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Check-in / Check-out date pickers with conflict detection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Auto charge calculation: BasePrice × Number of Nights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Total with 10% tax via BookingFacade.CalculateTotalAmount()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Facade Pattern orchestrates the full 8-step booking workflow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Booking created with Status = Pending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Facade Pattern: CreateBooking() hides 8 internal steps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0517E8B-685E-DBBC-AB7F-E3637CDF3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169" y="1529651"/>
            <a:ext cx="5263031" cy="49416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7 — Payment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PaymentForm.cs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Payment Form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Processes guest payments using the Strategy design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Displays invoice: subtotal, tax, total, paid, balance due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Cash mode: enter amount received → auto change calculation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  → Uses CashPaymentStrategy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Credit Card mode: card number (Luhn validation), holder,
  expiry, CVV → simulated gateway (95% success rate)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  → Uses CreditCardPaymentStrategy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Card number masked — only last 4 digits stored in DB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On success → automatically opens Receipt 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Strategy Pattern: payment algorithm selected at runtime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C388C79-FF4B-9710-EB6C-E1C2EDE3C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46" y="1467612"/>
            <a:ext cx="5089908" cy="51526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8 — Receipt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ReceiptForm.cs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Receipt Form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Styled visual receipt displayed after successful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Gradient blue header with checkmark + 'Payment Successful'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Section cards: Receipt Info · Guest Info · Booking Details
  · Financial Breakdown · Payment Info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Status badge: ✓ PAID IN FULL (green) · ◑ PARTIALLY PAID (orange)
  · ○ PENDING (red)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Action buttons: Print · Export PDF · Copy to Clipboard · Close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Custom GDI+ drawing with LinearGradientBrush for header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Professional receipt — supports print &amp; PDF export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40B6368-976E-7269-CC1E-0B09B3027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51" y="1462380"/>
            <a:ext cx="4992498" cy="50664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9 — Invoice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InvoiceListForm.cs / InvoiceForm.cs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Invoice Management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188566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View and manage all invoices generated from bookings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A1A2E"/>
                </a:solidFill>
                <a:latin typeface="Calibri"/>
              </a:rPr>
              <a:t>• List all invoices with status filtering</a:t>
            </a:r>
          </a:p>
          <a:p>
            <a:pPr algn="l"/>
            <a:r>
              <a:rPr sz="1300" b="0" dirty="0">
                <a:solidFill>
                  <a:srgbClr val="1A1A2E"/>
                </a:solidFill>
                <a:latin typeface="Calibri"/>
              </a:rPr>
              <a:t>• Statuses: Pending · Paid · Partially Paid · Cancelled</a:t>
            </a:r>
          </a:p>
          <a:p>
            <a:pPr algn="l"/>
            <a:r>
              <a:rPr sz="1300" b="0" dirty="0">
                <a:solidFill>
                  <a:srgbClr val="1A1A2E"/>
                </a:solidFill>
                <a:latin typeface="Calibri"/>
              </a:rPr>
              <a:t>• Invoice details: subtotal, 10% tax, discounts, total</a:t>
            </a:r>
          </a:p>
          <a:p>
            <a:pPr algn="l"/>
            <a:r>
              <a:rPr sz="1300" b="0" dirty="0">
                <a:solidFill>
                  <a:srgbClr val="1A1A2E"/>
                </a:solidFill>
                <a:latin typeface="Calibri"/>
              </a:rPr>
              <a:t>• View full details via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InvoiceDetailsDialog</a:t>
            </a:r>
            <a:endParaRPr sz="1300" b="0" dirty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300" b="0" dirty="0">
                <a:solidFill>
                  <a:srgbClr val="1A1A2E"/>
                </a:solidFill>
                <a:latin typeface="Calibri"/>
              </a:rPr>
              <a:t>• Track complete payment history per invoice</a:t>
            </a:r>
          </a:p>
          <a:p>
            <a:pPr algn="l"/>
            <a:r>
              <a:rPr sz="1300" b="0" dirty="0">
                <a:solidFill>
                  <a:srgbClr val="1A1A2E"/>
                </a:solidFill>
                <a:latin typeface="Calibri"/>
              </a:rPr>
              <a:t>• Auto-generated at guest checkout — no manual entry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Invoices are auto-generated on checkout — zero manual work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F47B521-5A3B-E9C2-9B71-5084F28D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4" y="2345278"/>
            <a:ext cx="6300343" cy="33470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10 — Housekeeping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HousekeepingTasksForm.cs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Housekeeping Tasks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Manage all cleaning and maintenance tasks for rooms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Lists tasks with: status, priority, room number, assigned staff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Tasks auto-created by Observer pattern when guest checks out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Auto-assignment: least-busy housekeeping staff algorithm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Manual assignment override also available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Status workflow: Pending → In Progress → Completed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Priority levels: High (post-checkout) / Normal (routine)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Observer Pattern: task creation is fully automated on checkout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27FA9F1-5018-0018-59CD-75AB92D02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5" y="2307176"/>
            <a:ext cx="6281928" cy="33372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11 — Staff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StaffManagementForm.cs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4477AA"/>
                </a:solidFill>
                <a:latin typeface="Calibri"/>
              </a:rPr>
              <a:t>📷   [ Staff Management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Admin-only interface for managing all system user 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Full CRUD operations for staff accounts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Add / Edit via AddEditStaffDialog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Role assignment: Admin · Receptionist · Housekeeping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Password management with SHA-256 secure hashing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Admin can reset any staff member's password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Restricted access — visible only to Admin 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Admin-only: role-based access control enforced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F9FC9FF-8CA2-97FC-2B3E-4879264CD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34187"/>
            <a:ext cx="6289324" cy="33411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FORM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Form 12 — Daily Operations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DailyOperationsReportForm.cs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799332"/>
            <a:ext cx="6309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77AA"/>
                </a:solidFill>
                <a:latin typeface="Calibri"/>
              </a:rPr>
              <a:t>📷   [ Daily Operations Report — Form 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Form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9659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Dashboard providing a real-time overview of hotel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Key Features &amp;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61488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Daily operations summary at a glance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Key metrics: occupancy rate, bookings, revenue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Active bookings, pending check-ins, pending check-outs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Outstanding invoices and payment summaries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Housekeeping task completion status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Management tool for informed decision-making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6199632"/>
            <a:ext cx="4983480" cy="320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620877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C02F"/>
                </a:solidFill>
                <a:latin typeface="Calibri"/>
              </a:rPr>
              <a:t>💡 Real-time management dashboard — all KPIs in one view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EB1A390-82C4-2686-9D2B-A7369529D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2015592"/>
            <a:ext cx="6345935" cy="3371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Design Patterns —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5 patterns implemented from textbook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11640312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444752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Each pattern solves a real architectural challenge, demonstrating Separation of Concerns, Loose Coupling, and the Open/Closed Principle.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011680"/>
            <a:ext cx="3611880" cy="146304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032" y="2011680"/>
            <a:ext cx="475488" cy="146304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" y="254203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5E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103120"/>
            <a:ext cx="2953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🔷 Singleton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05456"/>
            <a:ext cx="2953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DatabaseManager · RoomSubject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52928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Guarantees only ONE instance of critical resources exists at all times.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0792" y="2011680"/>
            <a:ext cx="3611880" cy="1463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50792" y="2011680"/>
            <a:ext cx="475488" cy="146304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05656" y="254203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5E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103120"/>
            <a:ext cx="2953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🏭 Factory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505456"/>
            <a:ext cx="2953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RoomFactory · Room subclasses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852928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Creates the correct room type object without exposing creation logic to UI.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45552" y="2011680"/>
            <a:ext cx="3611880" cy="146304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845552" y="2011680"/>
            <a:ext cx="475488" cy="146304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0416" y="254203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5E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03120"/>
            <a:ext cx="2953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♟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05456"/>
            <a:ext cx="2953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IPaymentStrategy · Cash · CreditCard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852928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Swaps payment algorithms at runtime — add new methods without touching existing code.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3675888"/>
            <a:ext cx="3611880" cy="1463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6032" y="3675888"/>
            <a:ext cx="475488" cy="146304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" y="420624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5E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767328"/>
            <a:ext cx="2953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👁 Observer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69664"/>
            <a:ext cx="2953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RoomSubject · HousekeepingObserver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517136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Auto-triggers housekeeping task creation every time a guest checks out.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50792" y="3675888"/>
            <a:ext cx="3611880" cy="146304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050792" y="3675888"/>
            <a:ext cx="475488" cy="146304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05656" y="420624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5E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3767328"/>
            <a:ext cx="2953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C02F"/>
                </a:solidFill>
                <a:latin typeface="Calibri"/>
              </a:rPr>
              <a:t>🎨 Decorator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4169664"/>
            <a:ext cx="2953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RoomDecorator · 3 Concrete Decorators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4517136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Dynamically adds room add-ons (breakfast, extra bed, transfer) without modifying Room.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45552" y="3675888"/>
            <a:ext cx="3611880" cy="14630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845552" y="3675888"/>
            <a:ext cx="475488" cy="146304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PATTERN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Pattern 1 — Singleton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Files: DAL/DatabaseManager.cs · Patterns/RoomSubject.cs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C02F"/>
                </a:solidFill>
                <a:latin typeface="Calibri"/>
              </a:rPr>
              <a:t>🔷  Singleton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883664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Ensures only ONE instance of a class exists throughout app lifetime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Where It's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24912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DatabaseManager — single shared database connection pool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Thread-safe double-check locking (lock + null check x2)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Private constructor prevents external instantiation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RoomSubject — single event hub for all Observer notifications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Every Repository uses DatabaseManager.Instance to query 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754880"/>
            <a:ext cx="4983480" cy="292608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47731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2F"/>
                </a:solidFill>
                <a:latin typeface="Calibri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5102352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Prevents connection pool exhaustion from multiple instances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Guarantees state consistency across multi-threaded UI events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Centralizes DB connection management in one place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E526610-B3D1-C0D5-7FAD-14F7B4518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3" y="2607112"/>
            <a:ext cx="6217013" cy="26130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PATTERN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Pattern 2 — Factory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Files: BLL/Factories/RoomFactory.cs · Models/Room.cs + 4 subclasses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C02F"/>
                </a:solidFill>
                <a:latin typeface="Calibri"/>
              </a:rPr>
              <a:t>🏭  Factory Method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196596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Encapsulates creation of different room types without exposing concrete classes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Where It's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24912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RoomFactory.CreateRoom(type) returns correct subclass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Single → MaxOccupancy 1 · $50/night · Single bed · 20 m²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Double → MaxOccupancy 2 · $80/night · Queen bed · 30 m²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Suite  → MaxOccupancy 4 · $150/night · King · Balcony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Deluxe → MaxOccupancy 4 · $250/night · King · Jacuzzi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CreateRoomFromDatabase() reconstructs rooms loaded from 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5138928"/>
            <a:ext cx="4983480" cy="29260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51572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2F"/>
                </a:solidFill>
                <a:latin typeface="Calibri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5486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UI forms never reference concrete room classes directly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All default configs (bed, area, price) defined in one location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New room type = add one new subclass only, no UI changes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EBD29EB-D05E-0F16-8BD7-6E212CEFC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44" y="1748790"/>
            <a:ext cx="6239911" cy="45971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PATTERN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Pattern 3 —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Files: Patterns/IPaymentStrategy.cs · CashPaymentStrategy.cs · CreditCardPaymentStrategy.cs · PaymentContext.cs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C02F"/>
                </a:solidFill>
                <a:latin typeface="Calibri"/>
              </a:rPr>
              <a:t>♟  Strategy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196596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Defines interchangeable payment algorithms — selected at 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Where It's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24912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IPaymentStrategy interface: ProcessPayment() + Validate()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CashPaymentStrategy → calculates change, creates Cash payment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CreditCardPaymentStrategy → Luhn validation, CVV check,
  gateway simulation (95% success), masks card number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PaymentContext.SetStrategy('Cash'/'CreditCard') at runtime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PaymentForm selects strategy based on user's radio button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754880"/>
            <a:ext cx="4983480" cy="292608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47731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2F"/>
                </a:solidFill>
                <a:latin typeface="Calibri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5102352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Adding Mobile Pay / Bank Transfer = one new class only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Existing payment code is never modified (Open/Closed Principle)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Each strategy is independently testable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A0F8542-3951-8B76-F843-69DC1E7B3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874520"/>
            <a:ext cx="6272784" cy="41429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PATTERN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Pattern 4 — Observer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Files: Patterns/IObserver.cs · Patterns/RoomSubject.cs · Patterns/HousekeepingObserver.cs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C02F"/>
                </a:solidFill>
                <a:latin typeface="Calibri"/>
              </a:rPr>
              <a:t>👁  Observer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196596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One-to-many event system — dependents notified automatically on state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Where It's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24912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RoomSubject (Singleton) holds a list of registered IObservers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MainForm.ctor → RoomSubject.Instance.Attach(new HousekeepingObserver())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BookingListForm checkout → RoomSubject.Notify('CheckOut', roomId)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HousekeepingObserver.Update() → auto-creates High-priority Cleaning Task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Smart assignment: finds housekeeping staff with fewest active tasks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Also handles 'Maintenance' event type for maintenance tasks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5138928"/>
            <a:ext cx="4983480" cy="29260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51572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2F"/>
                </a:solidFill>
                <a:latin typeface="Calibri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5486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Booking module and Housekeeping module are fully decoupled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New automated actions on checkout = add a new Observer only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No changes needed to existing checkout or booking code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17AD390-8DB1-0C06-AA43-F15942FEB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000" y="1455703"/>
            <a:ext cx="3081999" cy="50438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PATTERN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Pattern 5 — Decorator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Files: Patterns/RoomDecorator.cs · BreakfastDecorator.cs · ExtraBedDecorator.cs · AirportTransferDecorator.cs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6309360" cy="516636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643737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12280" y="1417320"/>
            <a:ext cx="5120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1417320"/>
            <a:ext cx="5120640" cy="4572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435608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C02F"/>
                </a:solidFill>
                <a:latin typeface="Calibri"/>
              </a:rPr>
              <a:t>🎨  Decorator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47672"/>
            <a:ext cx="4983480" cy="347472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659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  <a:latin typeface="Calibri"/>
              </a:rPr>
              <a:t>📌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196596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Attaches additional responsibilities to objects dynamically without subclassing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Where It's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724912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RoomDecorator — abstract base class wrapping any Room instance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BreakfastDecorator → adds +$15/night breakfast service charge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ExtraBedDecorator → adds +$30/night extra bed service charge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AirportTransferDecorator → adds +$25/night airport transfer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NewBookingForm stacks decorators from user-selected checkboxes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decorated.GetPrice() - baseRoom.GetPrice() = total add-on charges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5138928"/>
            <a:ext cx="4983480" cy="29260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51572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2F"/>
                </a:solidFill>
                <a:latin typeface="Calibri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5486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Add-ons applied at runtime — no Room subclass modifications needed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Decorators stack: all three services combine transparently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▸  Open/Closed Principle: new add-on = one new class, zero changes elsewhere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3D679A5-9775-4BFE-205F-4136A1224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50" y="2483809"/>
            <a:ext cx="6359930" cy="25030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Summary of the system's development and key achievements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426464"/>
            <a:ext cx="370332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426464"/>
            <a:ext cx="502920" cy="1298448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892807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49961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  <a:latin typeface="Calibri"/>
              </a:rPr>
              <a:t>Secure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1929384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SHA-256 hashing with random salt — user passwords are never stored in plain 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23944" y="1426464"/>
            <a:ext cx="370332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23944" y="1426464"/>
            <a:ext cx="502920" cy="129844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87952" y="1892807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149961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  <a:latin typeface="Calibri"/>
              </a:rPr>
              <a:t>Automated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1929384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Observer pattern: guest checkout auto-triggers housekeeping task creation with smart staff assignment.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1855" y="1426464"/>
            <a:ext cx="370332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91855" y="1426464"/>
            <a:ext cx="502920" cy="1298448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55863" y="1892807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5" y="149961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  <a:latin typeface="Calibri"/>
              </a:rPr>
              <a:t>Flexible 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6215" y="1929384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Strategy pattern: new payment methods require only one new class — no existing code modified.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2907791"/>
            <a:ext cx="370332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6032" y="2907791"/>
            <a:ext cx="502920" cy="1298448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374135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29809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  <a:latin typeface="Calibri"/>
              </a:rPr>
              <a:t>Clean Data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3410711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Generic IRepository&lt;T&gt; with 7 implementations — consistent, parameterized, injection-safe SQL.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23944" y="2907791"/>
            <a:ext cx="370332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23944" y="2907791"/>
            <a:ext cx="502920" cy="129844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87952" y="3374135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8304" y="29809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  <a:latin typeface="Calibri"/>
              </a:rPr>
              <a:t>Simplified Booking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8304" y="3410711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Facade pattern reduces an 8-step multi-repository workflow to a single validated method call.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91855" y="2907791"/>
            <a:ext cx="370332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91855" y="2907791"/>
            <a:ext cx="502920" cy="1298448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55863" y="3374135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215" y="29809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  <a:latin typeface="Calibri"/>
              </a:rPr>
              <a:t>Robust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86215" y="3410711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66"/>
                </a:solidFill>
                <a:latin typeface="Calibri"/>
              </a:rPr>
              <a:t>ValidationHelper covers email, phone, Luhn (credit card), date ranges, and numeric inputs.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4315968"/>
            <a:ext cx="11676888" cy="621792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4343400"/>
            <a:ext cx="11475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Hotel Management System delivers a fully functional platform covering the complete hotel lifecycle: guest registration → booking → check-in → stay → checkout → payment → housekeeping, underpinned by 6 design patterns and a clean 3-layer architecture.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5047488"/>
            <a:ext cx="11676888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2336" y="5093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  <a:latin typeface="Calibri"/>
              </a:rPr>
              <a:t>System Architecture Summary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" y="5504688"/>
            <a:ext cx="11338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A1A2E"/>
                </a:solidFill>
                <a:latin typeface="Calibri"/>
              </a:rPr>
              <a:t>Presentation Layer   :  1</a:t>
            </a:r>
            <a:r>
              <a:rPr lang="en-US" sz="1200" b="0" dirty="0">
                <a:solidFill>
                  <a:srgbClr val="1A1A2E"/>
                </a:solidFill>
                <a:latin typeface="Calibri"/>
              </a:rPr>
              <a:t>5</a:t>
            </a:r>
            <a:r>
              <a:rPr sz="1200" b="0" dirty="0">
                <a:solidFill>
                  <a:srgbClr val="1A1A2E"/>
                </a:solidFill>
                <a:latin typeface="Calibri"/>
              </a:rPr>
              <a:t>+ Windows Forms — Login, Booking, Payment, Receipt, Housekeeping, Reports …</a:t>
            </a:r>
          </a:p>
          <a:p>
            <a:pPr algn="l"/>
            <a:r>
              <a:rPr sz="1200" b="0" dirty="0">
                <a:solidFill>
                  <a:srgbClr val="1A1A2E"/>
                </a:solidFill>
                <a:latin typeface="Calibri"/>
              </a:rPr>
              <a:t>Business Logic Layer :  </a:t>
            </a:r>
            <a:r>
              <a:rPr sz="1200" b="0" dirty="0" err="1">
                <a:solidFill>
                  <a:srgbClr val="1A1A2E"/>
                </a:solidFill>
                <a:latin typeface="Calibri"/>
              </a:rPr>
              <a:t>BookingFacade</a:t>
            </a:r>
            <a:r>
              <a:rPr sz="1200" b="0" dirty="0">
                <a:solidFill>
                  <a:srgbClr val="1A1A2E"/>
                </a:solidFill>
                <a:latin typeface="Calibri"/>
              </a:rPr>
              <a:t> · </a:t>
            </a:r>
            <a:r>
              <a:rPr sz="1200" b="0" dirty="0" err="1">
                <a:solidFill>
                  <a:srgbClr val="1A1A2E"/>
                </a:solidFill>
                <a:latin typeface="Calibri"/>
              </a:rPr>
              <a:t>RoomFactory</a:t>
            </a:r>
            <a:r>
              <a:rPr sz="1200" b="0" dirty="0">
                <a:solidFill>
                  <a:srgbClr val="1A1A2E"/>
                </a:solidFill>
                <a:latin typeface="Calibri"/>
              </a:rPr>
              <a:t> · </a:t>
            </a:r>
            <a:r>
              <a:rPr sz="1200" b="0" dirty="0" err="1">
                <a:solidFill>
                  <a:srgbClr val="1A1A2E"/>
                </a:solidFill>
                <a:latin typeface="Calibri"/>
              </a:rPr>
              <a:t>PasswordHelper</a:t>
            </a:r>
            <a:r>
              <a:rPr sz="1200" b="0" dirty="0">
                <a:solidFill>
                  <a:srgbClr val="1A1A2E"/>
                </a:solidFill>
                <a:latin typeface="Calibri"/>
              </a:rPr>
              <a:t> · </a:t>
            </a:r>
            <a:r>
              <a:rPr sz="1200" b="0" dirty="0" err="1">
                <a:solidFill>
                  <a:srgbClr val="1A1A2E"/>
                </a:solidFill>
                <a:latin typeface="Calibri"/>
              </a:rPr>
              <a:t>ValidationHelper</a:t>
            </a:r>
            <a:endParaRPr sz="1200" b="0" dirty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200" b="0" dirty="0">
                <a:solidFill>
                  <a:srgbClr val="1A1A2E"/>
                </a:solidFill>
                <a:latin typeface="Calibri"/>
              </a:rPr>
              <a:t>Design Patterns      :  Singleton · Factory Method · Strategy · Observer · Repository · Facade</a:t>
            </a:r>
          </a:p>
          <a:p>
            <a:pPr algn="l"/>
            <a:r>
              <a:rPr sz="1200" b="0" dirty="0">
                <a:solidFill>
                  <a:srgbClr val="1A1A2E"/>
                </a:solidFill>
                <a:latin typeface="Calibri"/>
              </a:rPr>
              <a:t>Data Access Layer    :  </a:t>
            </a:r>
            <a:r>
              <a:rPr sz="1200" b="0" dirty="0" err="1">
                <a:solidFill>
                  <a:srgbClr val="1A1A2E"/>
                </a:solidFill>
                <a:latin typeface="Calibri"/>
              </a:rPr>
              <a:t>DatabaseManager</a:t>
            </a:r>
            <a:r>
              <a:rPr sz="1200" b="0" dirty="0">
                <a:solidFill>
                  <a:srgbClr val="1A1A2E"/>
                </a:solidFill>
                <a:latin typeface="Calibri"/>
              </a:rPr>
              <a:t> (Singleton) + 7 Repository implementations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"/>
            <a:ext cx="1417320" cy="347472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" y="137160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5E"/>
                </a:solidFill>
                <a:latin typeface="Calibri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Demo — Live System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2F"/>
                </a:solidFill>
                <a:latin typeface="Calibri"/>
              </a:rPr>
              <a:t>Run the program and demonstrate actual CRUD and workflow operations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65976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Hotel Management System  ·  C# Windows Forms  ·  Layered Architecture  ·  5 Design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371600"/>
            <a:ext cx="2724912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371600"/>
            <a:ext cx="2724912" cy="384048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408176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0C02F"/>
                </a:solidFill>
                <a:latin typeface="Calibri"/>
              </a:rPr>
              <a:t>➕ Insert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1828800"/>
            <a:ext cx="2542032" cy="91440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" y="182880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33472" y="182880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259689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33472" y="259689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816352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Add a new guest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Add a room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Create a booking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1371600"/>
            <a:ext cx="2724912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27248" y="1371600"/>
            <a:ext cx="2724912" cy="38404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18688" y="1408176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F"/>
                </a:solidFill>
                <a:latin typeface="Calibri"/>
              </a:rPr>
              <a:t>✏️ Update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1828800"/>
            <a:ext cx="2542032" cy="91440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182880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504688" y="182880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18688" y="259689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04688" y="259689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18688" y="2816352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Edit guest profile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Modify room details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Confirm a booking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98464" y="1371600"/>
            <a:ext cx="2724912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98464" y="1371600"/>
            <a:ext cx="2724912" cy="384048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9904" y="1408176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F"/>
                </a:solidFill>
                <a:latin typeface="Calibri"/>
              </a:rPr>
              <a:t>🔍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9904" y="1828800"/>
            <a:ext cx="2542032" cy="91440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89904" y="182880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375904" y="182880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89904" y="259689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75904" y="259689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89904" y="2816352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Search guest by name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Filter rooms by status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Filter bookings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1371600"/>
            <a:ext cx="2724912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869680" y="1371600"/>
            <a:ext cx="2724912" cy="38404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1119" y="1408176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F"/>
                </a:solidFill>
                <a:latin typeface="Calibri"/>
              </a:rPr>
              <a:t>🗑 Delete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19" y="1828800"/>
            <a:ext cx="2542032" cy="91440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19" y="182880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247119" y="1828800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961119" y="259689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1247119" y="2596896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19" y="2816352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Soft-delete a guest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Cancel a booking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Remove staff account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3593592"/>
            <a:ext cx="2724912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56032" y="3593592"/>
            <a:ext cx="2724912" cy="384048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7472" y="3630168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F"/>
                </a:solidFill>
                <a:latin typeface="Calibri"/>
              </a:rPr>
              <a:t>🔐 Login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4050791"/>
            <a:ext cx="2542032" cy="91440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47472" y="4050791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633472" y="4050791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47472" y="4818888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633472" y="4818888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" y="5038344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Login as Admin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Login as Receptionist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Compare role views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27248" y="3593592"/>
            <a:ext cx="2724912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127248" y="3593592"/>
            <a:ext cx="2724912" cy="38404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18688" y="3630168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F"/>
                </a:solidFill>
                <a:latin typeface="Calibri"/>
              </a:rPr>
              <a:t>💳 Payment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18688" y="4050791"/>
            <a:ext cx="2542032" cy="91440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218688" y="4050791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504688" y="4050791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218688" y="4818888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504688" y="4818888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18688" y="5038344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Process cash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Process credit card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View styled receipt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98464" y="3593592"/>
            <a:ext cx="2724912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998464" y="3593592"/>
            <a:ext cx="2724912" cy="384048"/>
          </a:xfrm>
          <a:prstGeom prst="rect">
            <a:avLst/>
          </a:prstGeom>
          <a:solidFill>
            <a:srgbClr val="274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089904" y="3630168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F"/>
                </a:solidFill>
                <a:latin typeface="Calibri"/>
              </a:rPr>
              <a:t>🧹 Housekeep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89904" y="4050791"/>
            <a:ext cx="2542032" cy="91440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089904" y="4050791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375904" y="4050791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089904" y="4818888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375904" y="4818888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089904" y="5038344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Check out a guest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See auto-task created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Update task status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869680" y="3593592"/>
            <a:ext cx="2724912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9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869680" y="3593592"/>
            <a:ext cx="2724912" cy="384048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961119" y="3630168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F"/>
                </a:solidFill>
                <a:latin typeface="Calibri"/>
              </a:rPr>
              <a:t>📊 Report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61119" y="4050791"/>
            <a:ext cx="2542032" cy="914400"/>
          </a:xfrm>
          <a:prstGeom prst="rect">
            <a:avLst/>
          </a:prstGeom>
          <a:solidFill>
            <a:srgbClr val="D5E8F7"/>
          </a:solidFill>
          <a:ln w="190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961119" y="4050791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1247119" y="4050791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961119" y="4818888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247119" y="4818888"/>
            <a:ext cx="256032" cy="146304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961119" y="5038344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View daily dashboard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Check occupancy rate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Review invoices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2979</Words>
  <Application>Microsoft Office PowerPoint</Application>
  <PresentationFormat>Custom</PresentationFormat>
  <Paragraphs>416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rom vireak</cp:lastModifiedBy>
  <cp:revision>4</cp:revision>
  <dcterms:created xsi:type="dcterms:W3CDTF">2013-01-27T09:14:16Z</dcterms:created>
  <dcterms:modified xsi:type="dcterms:W3CDTF">2026-03-07T14:52:06Z</dcterms:modified>
  <cp:category/>
</cp:coreProperties>
</file>