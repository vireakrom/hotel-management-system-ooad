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8" r:id="rId23"/>
    <p:sldId id="279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151484" y="2605665"/>
            <a:ext cx="6074852" cy="615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999" b="1" dirty="0">
                <a:solidFill>
                  <a:srgbClr val="3F3D3E"/>
                </a:solidFill>
                <a:latin typeface="Khmer OS Muol Light" panose="02000500000000020004" pitchFamily="2" charset="0"/>
                <a:ea typeface="Alexandria Bold"/>
                <a:cs typeface="Khmer OS Muol Light" panose="02000500000000020004" pitchFamily="2" charset="0"/>
                <a:sym typeface="Alexandria Bold"/>
              </a:rPr>
              <a:t>Hotel Management System</a:t>
            </a:r>
            <a:endParaRPr lang="en-US" sz="4799" b="1" dirty="0">
              <a:solidFill>
                <a:srgbClr val="3F3D3E"/>
              </a:solidFill>
              <a:latin typeface="Khmer OS Muol Light" panose="02000500000000020004" pitchFamily="2" charset="0"/>
              <a:ea typeface="Alexandria Bold"/>
              <a:cs typeface="Khmer OS Muol Light" panose="02000500000000020004" pitchFamily="2" charset="0"/>
              <a:sym typeface="Alexandria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355265" y="4528637"/>
            <a:ext cx="1478294" cy="46551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4170"/>
              </a:lnSpc>
              <a:spcBef>
                <a:spcPct val="0"/>
              </a:spcBef>
            </a:pP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ea typeface="Garet"/>
                <a:cs typeface="Khmer OS Muol Light" panose="02000500000000020004" pitchFamily="2" charset="0"/>
                <a:sym typeface="Garet"/>
              </a:rPr>
              <a:t>សមាជិក</a:t>
            </a:r>
            <a:endParaRPr lang="en-US" sz="2978" dirty="0">
              <a:solidFill>
                <a:srgbClr val="545454"/>
              </a:solidFill>
              <a:latin typeface="Khmer OS Muol Light" panose="02000500000000020004" pitchFamily="2" charset="0"/>
              <a:ea typeface="Garet"/>
              <a:cs typeface="Khmer OS Muol Light" panose="02000500000000020004" pitchFamily="2" charset="0"/>
              <a:sym typeface="Gare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285E14-AD60-5DEB-527F-B2A5C00CEFD2}"/>
              </a:ext>
            </a:extLst>
          </p:cNvPr>
          <p:cNvSpPr txBox="1"/>
          <p:nvPr/>
        </p:nvSpPr>
        <p:spPr>
          <a:xfrm>
            <a:off x="3342755" y="650510"/>
            <a:ext cx="569231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448">
              <a:lnSpc>
                <a:spcPts val="4170"/>
              </a:lnSpc>
              <a:spcBef>
                <a:spcPct val="0"/>
              </a:spcBef>
              <a:defRPr/>
            </a:pPr>
            <a:r>
              <a:rPr lang="km-KH" sz="2933" dirty="0">
                <a:solidFill>
                  <a:srgbClr val="545454"/>
                </a:solidFill>
                <a:latin typeface="Khmer OS Muol Light" panose="02000500000000020004" pitchFamily="2" charset="0"/>
                <a:ea typeface="Garet"/>
                <a:cs typeface="Khmer OS Muol Light" panose="02000500000000020004" pitchFamily="2" charset="0"/>
                <a:sym typeface="Garet"/>
              </a:rPr>
              <a:t>សាកលវិទ្យាល័យភូមិន្ទភ្នំពេញ</a:t>
            </a:r>
            <a:endParaRPr lang="en-US" sz="2933" dirty="0">
              <a:solidFill>
                <a:srgbClr val="545454"/>
              </a:solidFill>
              <a:latin typeface="Khmer OS Muol Light" panose="02000500000000020004" pitchFamily="2" charset="0"/>
              <a:ea typeface="Garet"/>
              <a:cs typeface="Khmer OS Muol Light" panose="02000500000000020004" pitchFamily="2" charset="0"/>
              <a:sym typeface="Gare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4F7B6F-BBD2-C385-A7BD-51B045924A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56" y="407463"/>
            <a:ext cx="1173014" cy="119695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D72FD71-6D5B-51F2-E102-EC863B78E353}"/>
              </a:ext>
            </a:extLst>
          </p:cNvPr>
          <p:cNvSpPr txBox="1"/>
          <p:nvPr/>
        </p:nvSpPr>
        <p:spPr>
          <a:xfrm>
            <a:off x="1358087" y="5239774"/>
            <a:ext cx="978502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១</a:t>
            </a:r>
            <a:r>
              <a:rPr lang="en-US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.</a:t>
            </a: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 រុំ​ វីរៈ       </a:t>
            </a:r>
            <a:r>
              <a:rPr lang="en-US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   </a:t>
            </a: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២</a:t>
            </a:r>
            <a:r>
              <a:rPr lang="en-US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.</a:t>
            </a: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 ប៉ាត​ មូលសក្តា​             </a:t>
            </a:r>
            <a:r>
              <a:rPr lang="en-US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 </a:t>
            </a: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៣​</a:t>
            </a:r>
            <a:r>
              <a:rPr lang="en-US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. </a:t>
            </a: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នឹម​ រត្តនៈ                ៤</a:t>
            </a:r>
            <a:r>
              <a:rPr lang="en-US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.</a:t>
            </a: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 នូ និចាន់  </a:t>
            </a:r>
            <a:r>
              <a:rPr lang="en-US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 </a:t>
            </a: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​​     ៥</a:t>
            </a:r>
            <a:r>
              <a:rPr lang="en-US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.</a:t>
            </a: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 នឿន តុណា     ​​​​​​​​​​​​​​</a:t>
            </a:r>
            <a:endParaRPr lang="en-US" sz="1600" dirty="0">
              <a:solidFill>
                <a:srgbClr val="545454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8B2DC0-766F-8499-6D0C-8232C0D3AADA}"/>
              </a:ext>
            </a:extLst>
          </p:cNvPr>
          <p:cNvSpPr txBox="1"/>
          <p:nvPr/>
        </p:nvSpPr>
        <p:spPr>
          <a:xfrm>
            <a:off x="3555074" y="3520693"/>
            <a:ext cx="526767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  <a:sym typeface="Garet"/>
              </a:rPr>
              <a:t>បង្រៀនដោយសាស្ត្រាចារ្យ​៖ </a:t>
            </a:r>
            <a:r>
              <a:rPr lang="en-US" sz="1600" b="1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  <a:sym typeface="Garet"/>
              </a:rPr>
              <a:t>Dan Vournpheng   </a:t>
            </a: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  <a:sym typeface="Garet"/>
              </a:rPr>
              <a:t>​​​      </a:t>
            </a:r>
          </a:p>
          <a:p>
            <a:pPr algn="ctr">
              <a:lnSpc>
                <a:spcPct val="150000"/>
              </a:lnSpc>
            </a:pPr>
            <a:r>
              <a:rPr lang="km-KH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  <a:sym typeface="Garet"/>
              </a:rPr>
              <a:t>ថ្នាក់​ </a:t>
            </a:r>
            <a:r>
              <a:rPr lang="en-US" sz="1600" dirty="0">
                <a:solidFill>
                  <a:srgbClr val="545454"/>
                </a:solidFill>
                <a:latin typeface="Khmer OS Muol Light" panose="02000500000000020004" pitchFamily="2" charset="0"/>
                <a:cs typeface="Khmer OS Muol Light" panose="02000500000000020004" pitchFamily="2" charset="0"/>
                <a:sym typeface="Garet"/>
              </a:rPr>
              <a:t>A4</a:t>
            </a:r>
            <a:endParaRPr lang="en-US" sz="1200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120022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480" y="90000"/>
            <a:ext cx="720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 dirty="0">
                <a:solidFill>
                  <a:srgbClr val="F0C02F"/>
                </a:solidFill>
                <a:latin typeface="Segoe U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0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0000" y="120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0000" y="122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4412" y="122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184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1   —   Login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4412" y="184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000" y="244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0000" y="246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2   —   Main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4412" y="246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00" y="308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3   —   Guest Mgmt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4412" y="308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0000" y="368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0000" y="370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4   —   Room Mgmt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4412" y="370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000" y="432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5   —   Booking 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4412" y="432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0000" y="492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0000" y="494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6   —   New Booking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4412" y="494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00" y="556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7   —   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4412" y="556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4412" y="120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4412" y="122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8   —   Receipt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8824" y="122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4412" y="184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9   —   Invoice Mgmt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8824" y="184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4412" y="244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4412" y="246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10  —   Housekeeping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8824" y="246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4412" y="308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11  —   Staff Mgmt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8824" y="308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4412" y="368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4412" y="370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12  —   Daily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8824" y="370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4412" y="432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Design Patterns  (7 patterns)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8824" y="432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16 – 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4412" y="492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4412" y="494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8824" y="494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4412" y="556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Demo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8824" y="556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83000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1920" y="70000"/>
            <a:ext cx="904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844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 dirty="0">
                <a:solidFill>
                  <a:srgbClr val="F0C02F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272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Desktop hotel management platform built in C# Windows Forms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Covers complete lifecycle: booking → check-in → checkout → payment</a:t>
            </a:r>
            <a:endParaRPr lang="en-US" sz="2300" b="0" dirty="0">
              <a:solidFill>
                <a:srgbClr val="1E2A3A"/>
              </a:solidFill>
              <a:latin typeface="Segoe UI"/>
            </a:endParaRP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E2A3A"/>
                </a:solidFill>
                <a:latin typeface="Segoe UI"/>
              </a:rPr>
              <a:t>Staff management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300" b="0" dirty="0">
                <a:solidFill>
                  <a:srgbClr val="1E2A3A"/>
                </a:solidFill>
                <a:latin typeface="Segoe UI"/>
              </a:rPr>
              <a:t>Daily Report</a:t>
            </a:r>
            <a:endParaRPr sz="2300" b="0" dirty="0">
              <a:solidFill>
                <a:srgbClr val="1E2A3A"/>
              </a:solidFill>
              <a:latin typeface="Segoe UI"/>
            </a:endParaRP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Role-based access:  Admin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Receptionist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Housekeeping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 Manager</a:t>
            </a:r>
            <a:endParaRPr sz="2300" b="0" dirty="0">
              <a:solidFill>
                <a:srgbClr val="1E2A3A"/>
              </a:solidFill>
              <a:latin typeface="Segoe UI"/>
            </a:endParaRP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12 operational forms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5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design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err="1">
                <a:solidFill>
                  <a:srgbClr val="1A235E"/>
                </a:solidFill>
                <a:latin typeface="Segoe UI"/>
              </a:rPr>
              <a:t>ប៉ាត</a:t>
            </a:r>
            <a:r>
              <a:rPr sz="2200" b="1" dirty="0">
                <a:solidFill>
                  <a:srgbClr val="1A235E"/>
                </a:solidFill>
                <a:latin typeface="Segoe UI"/>
              </a:rPr>
              <a:t>  </a:t>
            </a:r>
            <a:r>
              <a:rPr sz="2200" b="1" dirty="0" err="1">
                <a:solidFill>
                  <a:srgbClr val="1A235E"/>
                </a:solidFill>
                <a:latin typeface="Segoe UI"/>
              </a:rPr>
              <a:t>មូលសក្តា</a:t>
            </a:r>
            <a:endParaRPr sz="2200" b="1" dirty="0">
              <a:solidFill>
                <a:srgbClr val="1A235E"/>
              </a:solidFill>
              <a:latin typeface="Segoe U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F7E5B5-79FF-B8F5-4946-1F15F109C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729" y="3772988"/>
            <a:ext cx="5098096" cy="23866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652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Login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650665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Secure login — SHA-256 password hashing with random salt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E2A3A"/>
                </a:solidFill>
                <a:latin typeface="Segoe UI"/>
              </a:rPr>
              <a:t>Four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roles:  Admin  /  Receptionist  /  Housekeeping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/ Manager</a:t>
            </a:r>
            <a:endParaRPr sz="2300" b="0" dirty="0">
              <a:solidFill>
                <a:srgbClr val="1E2A3A"/>
              </a:solidFill>
              <a:latin typeface="Segoe UI"/>
            </a:endParaRP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"Remember Me" — credentials persisted in app settings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Wrong credentials → error shown, password field cleared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ប៉ាត  មូលសក្តា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23F651-4A18-100F-1849-7CAB354CC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635" y="1467537"/>
            <a:ext cx="4484815" cy="46929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192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Main Form — MDI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Central navigation hub for all modules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Menu bar:  Booking  </a:t>
            </a:r>
            <a:r>
              <a:rPr lang="en-US" sz="230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Guest  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Room  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Housekeeping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 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Reports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Status bar shows logged-in user, role, and live clock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Observer pattern initialized here on startup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ប៉ាត  មូលសក្តា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722867-7012-B360-48CB-5186B5397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5" y="3165720"/>
            <a:ext cx="5823777" cy="3130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160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Guest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Add, edit, and soft-delete guest records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Search by name, email, or phone number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View full guest profile and booking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នឹម  រត្តនៈ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7D9371-FDE2-E81E-2484-3A3C37A21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517" y="2723621"/>
            <a:ext cx="6272784" cy="33323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176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Room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135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Four room types:  Single  </a:t>
            </a:r>
            <a:r>
              <a:rPr lang="en-US" sz="230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Double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 Suite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Deluxe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Track status:  Availabl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e, 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Occupied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Reserved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Maintenance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</a:t>
            </a:r>
            <a:r>
              <a:rPr lang="en-US" sz="2300" dirty="0">
                <a:solidFill>
                  <a:srgbClr val="1E2A3A"/>
                </a:solidFill>
                <a:latin typeface="Segoe UI"/>
              </a:rPr>
              <a:t>Features: Add, edit, update, delete room, search, view detail of room</a:t>
            </a:r>
            <a:endParaRPr lang="en-US" sz="2300" b="0" dirty="0">
              <a:solidFill>
                <a:srgbClr val="1E2A3A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នឹម  រត្តនៈ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80AEF2-6244-7A56-624A-C07B29C4F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1" y="2853052"/>
            <a:ext cx="6217920" cy="33421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6680" y="11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Booking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All bookings shown with color-coded status rows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Actions:  Check-In  </a:t>
            </a:r>
            <a:r>
              <a:rPr lang="en-US" sz="230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Check-Out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 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Process Payment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 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Cancel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 new booking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E2A3A"/>
                </a:solidFill>
                <a:latin typeface="Segoe UI"/>
              </a:rPr>
              <a:t>Search by name or Id</a:t>
            </a:r>
            <a:endParaRPr sz="2300" b="0" dirty="0">
              <a:solidFill>
                <a:srgbClr val="1E2A3A"/>
              </a:solidFill>
              <a:latin typeface="Segoe UI"/>
            </a:endParaRPr>
          </a:p>
          <a:p>
            <a:pPr>
              <a:spcBef>
                <a:spcPts val="800"/>
              </a:spcBef>
            </a:pPr>
            <a:endParaRPr sz="2300" b="0" dirty="0">
              <a:solidFill>
                <a:srgbClr val="1E2A3A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នឹម  រត្តនៈ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F989DA-6237-3AED-B8B5-F7C90CE3B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628364"/>
            <a:ext cx="6674435" cy="35875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1760" y="84856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New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1" y="1360000"/>
            <a:ext cx="5494412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Select guest, room, and date range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Auto-calculates:  Base Price × Nights + 10% tax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Add-ons:  Breakfast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Extra Bed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Airport Transfer  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err="1">
                <a:solidFill>
                  <a:srgbClr val="1A235E"/>
                </a:solidFill>
                <a:latin typeface="Segoe UI"/>
              </a:rPr>
              <a:t>នឹម</a:t>
            </a:r>
            <a:r>
              <a:rPr sz="2200" b="1" dirty="0">
                <a:solidFill>
                  <a:srgbClr val="1A235E"/>
                </a:solidFill>
                <a:latin typeface="Segoe UI"/>
              </a:rPr>
              <a:t>  </a:t>
            </a:r>
            <a:r>
              <a:rPr sz="2200" b="1" dirty="0" err="1">
                <a:solidFill>
                  <a:srgbClr val="1A235E"/>
                </a:solidFill>
                <a:latin typeface="Segoe UI"/>
              </a:rPr>
              <a:t>រត្តនៈ</a:t>
            </a:r>
            <a:endParaRPr sz="2200" b="1" dirty="0">
              <a:solidFill>
                <a:srgbClr val="1A235E"/>
              </a:solidFill>
              <a:latin typeface="Segoe U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1FDC63-971D-CA7B-80F1-66A4875B6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248" y="1435608"/>
            <a:ext cx="4296231" cy="4776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0721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Payment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1" y="1360000"/>
            <a:ext cx="615372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Cash — enter amount, change calculated automatically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Credit Card — Luhn validation + simulated gateway (95% success)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Strategy Pattern: payment method switched at runtime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Success </a:t>
            </a:r>
            <a:r>
              <a:rPr lang="en-US" sz="2300" dirty="0">
                <a:solidFill>
                  <a:srgbClr val="1E2A3A"/>
                </a:solidFill>
                <a:latin typeface="Segoe UI"/>
              </a:rPr>
              <a:t>-&gt; 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Receipt Form displayed automatically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នូ  និចាន់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3B546F-E322-71C1-22C1-E285508F1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147" y="1420000"/>
            <a:ext cx="4831098" cy="48906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6840" y="96988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Receipt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1" y="1360000"/>
            <a:ext cx="6153726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300" b="0" dirty="0">
                <a:solidFill>
                  <a:srgbClr val="1E2A3A"/>
                </a:solidFill>
                <a:latin typeface="Segoe UI"/>
              </a:rPr>
              <a:t>Styled receipt shown after successful payment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Sections:  Guest info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Booking details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 Financial breakdown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Status badge:  Paid  /  Partially Paid  /  Pending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Actions:  Print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 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Copy to Clipboard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នូ  និចាន់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6625BE-BCC5-002B-E570-CF305D292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111" y="1518760"/>
            <a:ext cx="4467933" cy="45315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176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Invoice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Invoices auto-generated on guest checkout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Subtotal + 10% tax + discounts applied automatically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Status tracking:  Pending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 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Paid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 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Partially Paid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 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Cancelled</a:t>
            </a:r>
            <a:endParaRPr lang="en-US" sz="2300" b="0" dirty="0">
              <a:solidFill>
                <a:srgbClr val="1E2A3A"/>
              </a:solidFill>
              <a:latin typeface="Segoe UI"/>
            </a:endParaRP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300" b="0" dirty="0">
                <a:solidFill>
                  <a:srgbClr val="1E2A3A"/>
                </a:solidFill>
                <a:latin typeface="Segoe UI"/>
              </a:rPr>
              <a:t>Process payment after checkout</a:t>
            </a:r>
            <a:endParaRPr sz="2300" b="0" dirty="0">
              <a:solidFill>
                <a:srgbClr val="1E2A3A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នូ  និចាន់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2CF715-6242-29C3-5833-3FA4EE131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947" y="2826726"/>
            <a:ext cx="6315877" cy="33947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1760" y="90000"/>
            <a:ext cx="816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756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Housekeeping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Cleaning tasks auto-created on checkout  (Observer Pattern)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Smart assignment — least-busy staff selected automatically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Status workflow:  Pending  →  In Progress  →  Completed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នូ  និចាន់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5B79F4-92E6-1835-DD34-91834A0E3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218" y="2731949"/>
            <a:ext cx="6686607" cy="35940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6680" y="90000"/>
            <a:ext cx="816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756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Staff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135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CRUD operations for all staff accounts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Role assignment:  Admin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Receptionist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 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Housekeeping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 Manager</a:t>
            </a:r>
            <a:endParaRPr sz="2300" b="0" dirty="0">
              <a:solidFill>
                <a:srgbClr val="1E2A3A"/>
              </a:solidFill>
              <a:latin typeface="Segoe UI"/>
            </a:endParaRP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Secure password management with SHA-256 hashing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នឿន  តុណា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8462CB-5B0D-DD89-0FD4-1888A21FD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322" y="2719346"/>
            <a:ext cx="6318503" cy="33961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7000" y="90000"/>
            <a:ext cx="816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756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Daily Operations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135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Dashboard of daily hotel metrics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Tracks occupancy, bookings, payments, and outstanding tasks</a:t>
            </a:r>
            <a:endParaRPr lang="en-US" sz="2300" b="0" dirty="0">
              <a:solidFill>
                <a:srgbClr val="1E2A3A"/>
              </a:solidFill>
              <a:latin typeface="Segoe UI"/>
            </a:endParaRP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E2A3A"/>
                </a:solidFill>
                <a:latin typeface="Segoe UI"/>
              </a:rPr>
              <a:t>Export to Excel or PDF</a:t>
            </a:r>
            <a:endParaRPr sz="2300" b="0" dirty="0">
              <a:solidFill>
                <a:srgbClr val="1E2A3A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នឿន  តុណា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9C3D4C-7DF8-8076-22BC-599149F11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3" y="2578520"/>
            <a:ext cx="6916241" cy="3717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6680" y="98080"/>
            <a:ext cx="904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844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1A235E"/>
                </a:solidFill>
                <a:latin typeface="Segoe UI"/>
              </a:rPr>
              <a:t>Design Patterns — </a:t>
            </a:r>
            <a:r>
              <a:rPr lang="en-US" sz="4000" b="1" dirty="0">
                <a:solidFill>
                  <a:srgbClr val="1A235E"/>
                </a:solidFill>
                <a:latin typeface="Segoe UI"/>
              </a:rPr>
              <a:t>5</a:t>
            </a:r>
            <a:r>
              <a:rPr sz="4000" b="1" dirty="0">
                <a:solidFill>
                  <a:srgbClr val="1A235E"/>
                </a:solidFill>
                <a:latin typeface="Segoe UI"/>
              </a:rPr>
              <a:t> Implemented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100" b="0" dirty="0">
                <a:solidFill>
                  <a:srgbClr val="1E2A3A"/>
                </a:solidFill>
                <a:latin typeface="Segoe UI"/>
              </a:rPr>
              <a:t>•   1.  Singleton    — single shared instance</a:t>
            </a:r>
          </a:p>
          <a:p>
            <a:pPr>
              <a:spcBef>
                <a:spcPts val="800"/>
              </a:spcBef>
            </a:pPr>
            <a:r>
              <a:rPr sz="2100" b="0" dirty="0">
                <a:solidFill>
                  <a:srgbClr val="1E2A3A"/>
                </a:solidFill>
                <a:latin typeface="Segoe UI"/>
              </a:rPr>
              <a:t>•   2.  Factory      — creates correct room type objects</a:t>
            </a:r>
          </a:p>
          <a:p>
            <a:pPr>
              <a:spcBef>
                <a:spcPts val="800"/>
              </a:spcBef>
            </a:pPr>
            <a:r>
              <a:rPr sz="2100" b="0" dirty="0">
                <a:solidFill>
                  <a:srgbClr val="1E2A3A"/>
                </a:solidFill>
                <a:latin typeface="Segoe UI"/>
              </a:rPr>
              <a:t>•   3.  Strategy     — interchangeable payment algorithms</a:t>
            </a:r>
          </a:p>
          <a:p>
            <a:pPr>
              <a:spcBef>
                <a:spcPts val="800"/>
              </a:spcBef>
            </a:pPr>
            <a:r>
              <a:rPr sz="2100" b="0" dirty="0">
                <a:solidFill>
                  <a:srgbClr val="1E2A3A"/>
                </a:solidFill>
                <a:latin typeface="Segoe UI"/>
              </a:rPr>
              <a:t>•   4.  Observer     — auto-triggers housekeeping on checkout</a:t>
            </a:r>
          </a:p>
          <a:p>
            <a:pPr>
              <a:spcBef>
                <a:spcPts val="800"/>
              </a:spcBef>
            </a:pPr>
            <a:r>
              <a:rPr sz="2100" b="0" dirty="0">
                <a:solidFill>
                  <a:srgbClr val="1E2A3A"/>
                </a:solidFill>
                <a:latin typeface="Segoe UI"/>
              </a:rPr>
              <a:t>•   </a:t>
            </a:r>
            <a:r>
              <a:rPr lang="en-US" sz="2100" dirty="0">
                <a:solidFill>
                  <a:srgbClr val="1E2A3A"/>
                </a:solidFill>
                <a:latin typeface="Segoe UI"/>
              </a:rPr>
              <a:t>5</a:t>
            </a:r>
            <a:r>
              <a:rPr sz="2100" b="0" dirty="0">
                <a:solidFill>
                  <a:srgbClr val="1E2A3A"/>
                </a:solidFill>
                <a:latin typeface="Segoe UI"/>
              </a:rPr>
              <a:t>.  Decorator    — stackable room add-on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0A435D-F229-2B19-3708-264A84D0D9C4}"/>
              </a:ext>
            </a:extLst>
          </p:cNvPr>
          <p:cNvSpPr txBox="1"/>
          <p:nvPr/>
        </p:nvSpPr>
        <p:spPr>
          <a:xfrm>
            <a:off x="-1" y="642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err="1">
                <a:solidFill>
                  <a:srgbClr val="1A235E"/>
                </a:solidFill>
                <a:latin typeface="Segoe UI"/>
              </a:rPr>
              <a:t>រុំ</a:t>
            </a:r>
            <a:r>
              <a:rPr sz="2200" b="1" dirty="0">
                <a:solidFill>
                  <a:srgbClr val="1A235E"/>
                </a:solidFill>
                <a:latin typeface="Segoe UI"/>
              </a:rPr>
              <a:t>  </a:t>
            </a:r>
            <a:r>
              <a:rPr sz="2200" b="1" dirty="0" err="1">
                <a:solidFill>
                  <a:srgbClr val="1A235E"/>
                </a:solidFill>
                <a:latin typeface="Segoe UI"/>
              </a:rPr>
              <a:t>វីរៈ</a:t>
            </a:r>
            <a:endParaRPr sz="2200" b="1" dirty="0">
              <a:solidFill>
                <a:srgbClr val="1A235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1600" y="100000"/>
            <a:ext cx="992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932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Singleton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Guarantees only one instance exists throughout the app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</a:t>
            </a:r>
            <a:r>
              <a:rPr sz="2300" b="0" dirty="0" err="1">
                <a:solidFill>
                  <a:srgbClr val="1E2A3A"/>
                </a:solidFill>
                <a:latin typeface="Segoe UI"/>
              </a:rPr>
              <a:t>DatabaseManager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— single thread-safe connection pool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</a:t>
            </a:r>
            <a:r>
              <a:rPr sz="2300" b="0" dirty="0" err="1">
                <a:solidFill>
                  <a:srgbClr val="1E2A3A"/>
                </a:solidFill>
                <a:latin typeface="Segoe UI"/>
              </a:rPr>
              <a:t>RoomSubject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— one central observable event hub</a:t>
            </a:r>
          </a:p>
          <a:p>
            <a:pPr>
              <a:spcBef>
                <a:spcPts val="800"/>
              </a:spcBef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•   Double-check locking ensures thread safety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82C26B-21FB-87D5-958B-E15917845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905" y="3280880"/>
            <a:ext cx="6217013" cy="26130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B805C1-5ADC-388D-3684-D988DE15B5B1}"/>
              </a:ext>
            </a:extLst>
          </p:cNvPr>
          <p:cNvSpPr txBox="1"/>
          <p:nvPr/>
        </p:nvSpPr>
        <p:spPr>
          <a:xfrm>
            <a:off x="-1" y="642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err="1">
                <a:solidFill>
                  <a:srgbClr val="1A235E"/>
                </a:solidFill>
                <a:latin typeface="Segoe UI"/>
              </a:rPr>
              <a:t>រុំ</a:t>
            </a:r>
            <a:r>
              <a:rPr sz="2200" b="1" dirty="0">
                <a:solidFill>
                  <a:srgbClr val="1A235E"/>
                </a:solidFill>
                <a:latin typeface="Segoe UI"/>
              </a:rPr>
              <a:t>  </a:t>
            </a:r>
            <a:r>
              <a:rPr sz="2200" b="1" dirty="0" err="1">
                <a:solidFill>
                  <a:srgbClr val="1A235E"/>
                </a:solidFill>
                <a:latin typeface="Segoe UI"/>
              </a:rPr>
              <a:t>វីរៈ</a:t>
            </a:r>
            <a:endParaRPr sz="2200" b="1" dirty="0">
              <a:solidFill>
                <a:srgbClr val="1A235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5320" y="90000"/>
            <a:ext cx="992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932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Factory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1" y="1360000"/>
            <a:ext cx="478891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 err="1">
                <a:solidFill>
                  <a:srgbClr val="1E2A3A"/>
                </a:solidFill>
                <a:latin typeface="Segoe UI"/>
              </a:rPr>
              <a:t>RoomFactory.CreateRoom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(type) returns the correct subclass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4 types:  Single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 Double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 Suite</a:t>
            </a:r>
            <a:r>
              <a:rPr lang="en-US" sz="2300" b="0" dirty="0">
                <a:solidFill>
                  <a:srgbClr val="1E2A3A"/>
                </a:solidFill>
                <a:latin typeface="Segoe UI"/>
              </a:rPr>
              <a:t>,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Deluxe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Each type carries preset defaults: price, bed, area, occupancy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UI never references concrete room classes directly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FEF642-ED3D-85FC-70FF-A42BEAB00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914" y="1551427"/>
            <a:ext cx="6239911" cy="45971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A24529-F430-7F1A-7F31-05BF4711D77B}"/>
              </a:ext>
            </a:extLst>
          </p:cNvPr>
          <p:cNvSpPr txBox="1"/>
          <p:nvPr/>
        </p:nvSpPr>
        <p:spPr>
          <a:xfrm>
            <a:off x="-1" y="642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err="1">
                <a:solidFill>
                  <a:srgbClr val="1A235E"/>
                </a:solidFill>
                <a:latin typeface="Segoe UI"/>
              </a:rPr>
              <a:t>រុំ</a:t>
            </a:r>
            <a:r>
              <a:rPr sz="2200" b="1" dirty="0">
                <a:solidFill>
                  <a:srgbClr val="1A235E"/>
                </a:solidFill>
                <a:latin typeface="Segoe UI"/>
              </a:rPr>
              <a:t>  </a:t>
            </a:r>
            <a:r>
              <a:rPr sz="2200" b="1" dirty="0" err="1">
                <a:solidFill>
                  <a:srgbClr val="1A235E"/>
                </a:solidFill>
                <a:latin typeface="Segoe UI"/>
              </a:rPr>
              <a:t>វីរៈ</a:t>
            </a:r>
            <a:endParaRPr sz="2200" b="1" dirty="0">
              <a:solidFill>
                <a:srgbClr val="1A235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0560" y="90000"/>
            <a:ext cx="992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932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4756041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Defines interchangeable payment processing algorithms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 err="1">
                <a:solidFill>
                  <a:srgbClr val="1E2A3A"/>
                </a:solidFill>
                <a:latin typeface="Segoe UI"/>
              </a:rPr>
              <a:t>CashPaymentStrategy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— records transaction and computes change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 err="1">
                <a:solidFill>
                  <a:srgbClr val="1E2A3A"/>
                </a:solidFill>
                <a:latin typeface="Segoe UI"/>
              </a:rPr>
              <a:t>CreditCardPaymentStrategy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— Luhn check + gateway </a:t>
            </a:r>
            <a:r>
              <a:rPr sz="2300" b="0" dirty="0" err="1">
                <a:solidFill>
                  <a:srgbClr val="1E2A3A"/>
                </a:solidFill>
                <a:latin typeface="Segoe UI"/>
              </a:rPr>
              <a:t>authorisation</a:t>
            </a:r>
            <a:endParaRPr sz="2300" b="0" dirty="0">
              <a:solidFill>
                <a:srgbClr val="1E2A3A"/>
              </a:solidFill>
              <a:latin typeface="Segoe UI"/>
            </a:endParaRP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 err="1">
                <a:solidFill>
                  <a:srgbClr val="1E2A3A"/>
                </a:solidFill>
                <a:latin typeface="Segoe UI"/>
              </a:rPr>
              <a:t>PaymentContext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switches strategy at runtime based on user 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0EB75A-8127-80D5-0C76-26EEA4E41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041" y="1742539"/>
            <a:ext cx="6272784" cy="41429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26C68D-EAAC-C074-ADC5-67D95EBB3F2A}"/>
              </a:ext>
            </a:extLst>
          </p:cNvPr>
          <p:cNvSpPr txBox="1"/>
          <p:nvPr/>
        </p:nvSpPr>
        <p:spPr>
          <a:xfrm>
            <a:off x="-1" y="642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err="1">
                <a:solidFill>
                  <a:srgbClr val="1A235E"/>
                </a:solidFill>
                <a:latin typeface="Segoe UI"/>
              </a:rPr>
              <a:t>រុំ</a:t>
            </a:r>
            <a:r>
              <a:rPr sz="2200" b="1" dirty="0">
                <a:solidFill>
                  <a:srgbClr val="1A235E"/>
                </a:solidFill>
                <a:latin typeface="Segoe UI"/>
              </a:rPr>
              <a:t>  </a:t>
            </a:r>
            <a:r>
              <a:rPr sz="2200" b="1" dirty="0" err="1">
                <a:solidFill>
                  <a:srgbClr val="1A235E"/>
                </a:solidFill>
                <a:latin typeface="Segoe UI"/>
              </a:rPr>
              <a:t>វីរៈ</a:t>
            </a:r>
            <a:endParaRPr sz="2200" b="1" dirty="0">
              <a:solidFill>
                <a:srgbClr val="1A235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1600" y="84856"/>
            <a:ext cx="992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932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Observer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7854189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 err="1">
                <a:solidFill>
                  <a:srgbClr val="1E2A3A"/>
                </a:solidFill>
                <a:latin typeface="Segoe UI"/>
              </a:rPr>
              <a:t>RoomSubject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broadcasts room events to all registered observers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On checkout → </a:t>
            </a:r>
            <a:r>
              <a:rPr sz="2300" b="0" dirty="0" err="1">
                <a:solidFill>
                  <a:srgbClr val="1E2A3A"/>
                </a:solidFill>
                <a:latin typeface="Segoe UI"/>
              </a:rPr>
              <a:t>HousekeepingObserver</a:t>
            </a:r>
            <a:r>
              <a:rPr sz="2300" b="0" dirty="0">
                <a:solidFill>
                  <a:srgbClr val="1E2A3A"/>
                </a:solidFill>
                <a:latin typeface="Segoe UI"/>
              </a:rPr>
              <a:t> auto-creates cleaning task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Smart assignment: least-busy housekeeping staff selected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Checkout code stays decoupled — only calls Notify()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832A8F-4396-AE5E-1CE5-8A8D0CFC9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696" y="1432841"/>
            <a:ext cx="2942130" cy="48149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2127A-1FFF-320B-CC82-CB93AF58F05A}"/>
              </a:ext>
            </a:extLst>
          </p:cNvPr>
          <p:cNvSpPr txBox="1"/>
          <p:nvPr/>
        </p:nvSpPr>
        <p:spPr>
          <a:xfrm>
            <a:off x="-1" y="642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err="1">
                <a:solidFill>
                  <a:srgbClr val="1A235E"/>
                </a:solidFill>
                <a:latin typeface="Segoe UI"/>
              </a:rPr>
              <a:t>រុំ</a:t>
            </a:r>
            <a:r>
              <a:rPr sz="2200" b="1" dirty="0">
                <a:solidFill>
                  <a:srgbClr val="1A235E"/>
                </a:solidFill>
                <a:latin typeface="Segoe UI"/>
              </a:rPr>
              <a:t>  </a:t>
            </a:r>
            <a:r>
              <a:rPr sz="2200" b="1" dirty="0" err="1">
                <a:solidFill>
                  <a:srgbClr val="1A235E"/>
                </a:solidFill>
                <a:latin typeface="Segoe UI"/>
              </a:rPr>
              <a:t>វីរៈ</a:t>
            </a:r>
            <a:endParaRPr sz="2200" b="1" dirty="0">
              <a:solidFill>
                <a:srgbClr val="1A235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1920" y="100000"/>
            <a:ext cx="992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1052917" cy="301758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 dirty="0">
                <a:solidFill>
                  <a:srgbClr val="F0C02F"/>
                </a:solidFill>
                <a:latin typeface="Segoe UI"/>
              </a:rPr>
              <a:t>PATTERN </a:t>
            </a:r>
            <a:r>
              <a:rPr lang="en-US" sz="1300" b="1" dirty="0">
                <a:solidFill>
                  <a:srgbClr val="F0C02F"/>
                </a:solidFill>
                <a:latin typeface="Segoe UI"/>
              </a:rPr>
              <a:t>5</a:t>
            </a:r>
            <a:endParaRPr sz="1300" b="1" dirty="0">
              <a:solidFill>
                <a:srgbClr val="F0C02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Decorator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Dynamically adds services to any room type at booking time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Breakfast +$15/night  ·  Extra Bed +$30/night  ·  Airport Transfer +$25/night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Decorators stack:  Double($80) + Breakfast + Extra Bed = $125/night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Open/Closed — new services added without touching existing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7DE1D0-03DF-4FE9-183B-8DB21B26D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447" y="3429000"/>
            <a:ext cx="6359930" cy="25030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295FC2-9107-F508-A2DA-8E4397DDA258}"/>
              </a:ext>
            </a:extLst>
          </p:cNvPr>
          <p:cNvSpPr txBox="1"/>
          <p:nvPr/>
        </p:nvSpPr>
        <p:spPr>
          <a:xfrm>
            <a:off x="-1" y="642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err="1">
                <a:solidFill>
                  <a:srgbClr val="1A235E"/>
                </a:solidFill>
                <a:latin typeface="Segoe UI"/>
              </a:rPr>
              <a:t>រុំ</a:t>
            </a:r>
            <a:r>
              <a:rPr sz="2200" b="1" dirty="0">
                <a:solidFill>
                  <a:srgbClr val="1A235E"/>
                </a:solidFill>
                <a:latin typeface="Segoe UI"/>
              </a:rPr>
              <a:t>  </a:t>
            </a:r>
            <a:r>
              <a:rPr sz="2200" b="1" dirty="0" err="1">
                <a:solidFill>
                  <a:srgbClr val="1A235E"/>
                </a:solidFill>
                <a:latin typeface="Segoe UI"/>
              </a:rPr>
              <a:t>វីរៈ</a:t>
            </a:r>
            <a:endParaRPr sz="2200" b="1" dirty="0">
              <a:solidFill>
                <a:srgbClr val="1A235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133992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1279920" cy="301758"/>
          </a:xfrm>
          <a:prstGeom prst="rect">
            <a:avLst/>
          </a:prstGeom>
          <a:noFill/>
        </p:spPr>
        <p:txBody>
          <a:bodyPr wrap="square" tIns="55000">
            <a:spAutoFit/>
          </a:bodyPr>
          <a:lstStyle/>
          <a:p>
            <a:r>
              <a:rPr sz="1300" b="1" dirty="0">
                <a:solidFill>
                  <a:srgbClr val="F0C02F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Covers complete hotel lifecycle end-to-end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7 design patterns applied to real architectural challenges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Secure:  SHA-256 hashing  ·  Role-based access  ·  Luhn validation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300" b="0" dirty="0">
                <a:solidFill>
                  <a:srgbClr val="1E2A3A"/>
                </a:solidFill>
                <a:latin typeface="Segoe UI"/>
              </a:rPr>
              <a:t>Extensible: new payment methods and services add without touching existing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នឿន  តុណា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799408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500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400000"/>
            <a:ext cx="110688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400" b="1" dirty="0">
                <a:solidFill>
                  <a:srgbClr val="1A235E"/>
                </a:solidFill>
                <a:latin typeface="Segoe UI"/>
              </a:rPr>
              <a:t>Project Demo</a:t>
            </a:r>
            <a:r>
              <a:rPr sz="6400" b="1" dirty="0">
                <a:solidFill>
                  <a:srgbClr val="1A235E"/>
                </a:solidFill>
                <a:latin typeface="Segoe UI"/>
              </a:rPr>
              <a:t>🎬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000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នឿន  តុណា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990</Words>
  <Application>Microsoft Office PowerPoint</Application>
  <PresentationFormat>Custom</PresentationFormat>
  <Paragraphs>179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Khmer OS Muol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rom vireak</cp:lastModifiedBy>
  <cp:revision>6</cp:revision>
  <dcterms:created xsi:type="dcterms:W3CDTF">2013-01-27T09:14:16Z</dcterms:created>
  <dcterms:modified xsi:type="dcterms:W3CDTF">2026-03-11T13:57:37Z</dcterms:modified>
  <cp:category/>
</cp:coreProperties>
</file>