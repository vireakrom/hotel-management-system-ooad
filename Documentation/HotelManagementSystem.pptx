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7" r:id="rId22"/>
    <p:sldId id="278" r:id="rId23"/>
    <p:sldId id="279" r:id="rId2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/>
          <p:cNvSpPr txBox="1"/>
          <p:nvPr/>
        </p:nvSpPr>
        <p:spPr>
          <a:xfrm>
            <a:off x="3151484" y="2605665"/>
            <a:ext cx="6074852" cy="615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3999" b="1" dirty="0">
                <a:solidFill>
                  <a:srgbClr val="3F3D3E"/>
                </a:solidFill>
                <a:latin typeface="Khmer OS Muol Light" panose="02000500000000020004" pitchFamily="2" charset="0"/>
                <a:ea typeface="Alexandria Bold"/>
                <a:cs typeface="Khmer OS Muol Light" panose="02000500000000020004" pitchFamily="2" charset="0"/>
                <a:sym typeface="Alexandria Bold"/>
              </a:rPr>
              <a:t>Hotel Management System</a:t>
            </a:r>
            <a:endParaRPr lang="en-US" sz="4799" b="1" dirty="0">
              <a:solidFill>
                <a:srgbClr val="3F3D3E"/>
              </a:solidFill>
              <a:latin typeface="Khmer OS Muol Light" panose="02000500000000020004" pitchFamily="2" charset="0"/>
              <a:ea typeface="Alexandria Bold"/>
              <a:cs typeface="Khmer OS Muol Light" panose="02000500000000020004" pitchFamily="2" charset="0"/>
              <a:sym typeface="Alexandria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5355265" y="4528637"/>
            <a:ext cx="1478294" cy="465512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4170"/>
              </a:lnSpc>
              <a:spcBef>
                <a:spcPct val="0"/>
              </a:spcBef>
            </a:pP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ea typeface="Garet"/>
                <a:cs typeface="Khmer OS Muol Light" panose="02000500000000020004" pitchFamily="2" charset="0"/>
                <a:sym typeface="Garet"/>
              </a:rPr>
              <a:t>សមាជិក</a:t>
            </a:r>
            <a:endParaRPr lang="en-US" sz="2978" dirty="0">
              <a:solidFill>
                <a:srgbClr val="545454"/>
              </a:solidFill>
              <a:latin typeface="Khmer OS Muol Light" panose="02000500000000020004" pitchFamily="2" charset="0"/>
              <a:ea typeface="Garet"/>
              <a:cs typeface="Khmer OS Muol Light" panose="02000500000000020004" pitchFamily="2" charset="0"/>
              <a:sym typeface="Gare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285E14-AD60-5DEB-527F-B2A5C00CEFD2}"/>
              </a:ext>
            </a:extLst>
          </p:cNvPr>
          <p:cNvSpPr txBox="1"/>
          <p:nvPr/>
        </p:nvSpPr>
        <p:spPr>
          <a:xfrm>
            <a:off x="3342755" y="650510"/>
            <a:ext cx="569231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609448">
              <a:lnSpc>
                <a:spcPts val="4170"/>
              </a:lnSpc>
              <a:spcBef>
                <a:spcPct val="0"/>
              </a:spcBef>
              <a:defRPr/>
            </a:pPr>
            <a:r>
              <a:rPr lang="km-KH" sz="2933" dirty="0">
                <a:solidFill>
                  <a:srgbClr val="545454"/>
                </a:solidFill>
                <a:latin typeface="Khmer OS Muol Light" panose="02000500000000020004" pitchFamily="2" charset="0"/>
                <a:ea typeface="Garet"/>
                <a:cs typeface="Khmer OS Muol Light" panose="02000500000000020004" pitchFamily="2" charset="0"/>
                <a:sym typeface="Garet"/>
              </a:rPr>
              <a:t>សាកលវិទ្យាល័យភូមិន្ទភ្នំពេញ</a:t>
            </a:r>
            <a:endParaRPr lang="en-US" sz="2933" dirty="0">
              <a:solidFill>
                <a:srgbClr val="545454"/>
              </a:solidFill>
              <a:latin typeface="Khmer OS Muol Light" panose="02000500000000020004" pitchFamily="2" charset="0"/>
              <a:ea typeface="Garet"/>
              <a:cs typeface="Khmer OS Muol Light" panose="02000500000000020004" pitchFamily="2" charset="0"/>
              <a:sym typeface="Garet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54F7B6F-BBD2-C385-A7BD-51B045924A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056" y="407463"/>
            <a:ext cx="1173014" cy="119695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D72FD71-6D5B-51F2-E102-EC863B78E353}"/>
              </a:ext>
            </a:extLst>
          </p:cNvPr>
          <p:cNvSpPr txBox="1"/>
          <p:nvPr/>
        </p:nvSpPr>
        <p:spPr>
          <a:xfrm>
            <a:off x="1358087" y="5239774"/>
            <a:ext cx="9785022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១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.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 រុំ​ វីរៈ       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   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២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.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 ប៉ាត​ មូលសក្តា​             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 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៣​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. 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នឹម​ រត្តនៈ                ៤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.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 នូ និចាន់  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 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​​     ៥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.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 នឿន តុណា     ​​​​​​​​​​​​​​</a:t>
            </a:r>
            <a:endParaRPr lang="en-US" sz="1600" dirty="0">
              <a:solidFill>
                <a:srgbClr val="545454"/>
              </a:solidFill>
              <a:latin typeface="Khmer OS Muol Light" panose="02000500000000020004" pitchFamily="2" charset="0"/>
              <a:cs typeface="Khmer OS Muol Light" panose="02000500000000020004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8B2DC0-766F-8499-6D0C-8232C0D3AADA}"/>
              </a:ext>
            </a:extLst>
          </p:cNvPr>
          <p:cNvSpPr txBox="1"/>
          <p:nvPr/>
        </p:nvSpPr>
        <p:spPr>
          <a:xfrm>
            <a:off x="3555074" y="3520693"/>
            <a:ext cx="5267673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  <a:sym typeface="Garet"/>
              </a:rPr>
              <a:t>បង្រៀនដោយសាស្ត្រាចារ្យ​៖ </a:t>
            </a:r>
            <a:r>
              <a:rPr lang="en-US" sz="1600" b="1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  <a:sym typeface="Garet"/>
              </a:rPr>
              <a:t>Dan Vournpheng   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  <a:sym typeface="Garet"/>
              </a:rPr>
              <a:t>​​​      </a:t>
            </a:r>
          </a:p>
          <a:p>
            <a:pPr algn="ctr">
              <a:lnSpc>
                <a:spcPct val="150000"/>
              </a:lnSpc>
            </a:pP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  <a:sym typeface="Garet"/>
              </a:rPr>
              <a:t>ថ្នាក់​ 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  <a:sym typeface="Garet"/>
              </a:rPr>
              <a:t>A4</a:t>
            </a:r>
            <a:endParaRPr lang="en-US" sz="1200" dirty="0">
              <a:latin typeface="Khmer OS Muol Light" panose="02000500000000020004" pitchFamily="2" charset="0"/>
              <a:cs typeface="Khmer OS Muol Light" panose="02000500000000020004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0000" y="90000"/>
            <a:ext cx="120022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0480" y="90000"/>
            <a:ext cx="720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 dirty="0">
                <a:solidFill>
                  <a:srgbClr val="F0C02F"/>
                </a:solidFill>
                <a:latin typeface="Segoe U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Table of 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0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0000" y="1200000"/>
            <a:ext cx="5454412" cy="58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0000" y="122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4412" y="122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000" y="184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Form 1   —   Login 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4412" y="184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0000" y="2440000"/>
            <a:ext cx="5454412" cy="58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0000" y="246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Form 2   —   Main 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94412" y="246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00" y="308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Form 3   —   Guest Mgmt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4412" y="308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06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0000" y="3680000"/>
            <a:ext cx="5454412" cy="58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0000" y="370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Form 4   —   Room Mgmt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94412" y="370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000" y="432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Form 5   —   Booking 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4412" y="432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08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0000" y="4920000"/>
            <a:ext cx="5454412" cy="58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0000" y="494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Form 6   —   New Booking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4412" y="494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0000" y="556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Form 7   —   Payment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4412" y="556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4412" y="1200000"/>
            <a:ext cx="5454412" cy="58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14412" y="122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Form 8   —   Receipt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8824" y="122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4412" y="184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Form 9   —   Invoice Mgmt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8824" y="184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4412" y="2440000"/>
            <a:ext cx="5454412" cy="58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14412" y="246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Form 10  —   Housekeeping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8824" y="246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4412" y="308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Form 11  —   Staff Mgmt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08824" y="308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4412" y="3680000"/>
            <a:ext cx="5454412" cy="58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14412" y="370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Form 12  —   Daily 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08824" y="370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4412" y="432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Design Patterns  (7 patterns)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08824" y="432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16 – 23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4412" y="4920000"/>
            <a:ext cx="5454412" cy="58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214412" y="494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Conclusion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08824" y="494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4412" y="5560000"/>
            <a:ext cx="4974412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E2A3A"/>
                </a:solidFill>
                <a:latin typeface="Segoe UI"/>
              </a:rPr>
              <a:t>Demo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08824" y="5560000"/>
            <a:ext cx="4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1A235E"/>
                </a:solidFill>
                <a:latin typeface="Segoe UI"/>
              </a:rPr>
              <a:t>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83000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1920" y="70000"/>
            <a:ext cx="904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844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 dirty="0">
                <a:solidFill>
                  <a:srgbClr val="F0C02F"/>
                </a:solidFill>
                <a:latin typeface="Segoe U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Objective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11028825" cy="49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Desktop hotel management platform built in C# Windows Forms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Covers complete lifecycle: booking → check-in → checkout → payment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Role-based access:  Admin  ·  Receptionist  ·  Housekeeping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12 operational forms  ·  Layered architecture  ·  7 design patterns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dirty="0" err="1">
                <a:solidFill>
                  <a:srgbClr val="1A235E"/>
                </a:solidFill>
                <a:latin typeface="Segoe UI"/>
              </a:rPr>
              <a:t>ប៉ាត</a:t>
            </a:r>
            <a:r>
              <a:rPr sz="2200" b="1" dirty="0">
                <a:solidFill>
                  <a:srgbClr val="1A235E"/>
                </a:solidFill>
                <a:latin typeface="Segoe UI"/>
              </a:rPr>
              <a:t>  </a:t>
            </a:r>
            <a:r>
              <a:rPr sz="2200" b="1" dirty="0" err="1">
                <a:solidFill>
                  <a:srgbClr val="1A235E"/>
                </a:solidFill>
                <a:latin typeface="Segoe UI"/>
              </a:rPr>
              <a:t>មូលសក្តា</a:t>
            </a:r>
            <a:endParaRPr sz="2200" b="1" dirty="0">
              <a:solidFill>
                <a:srgbClr val="1A235E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6520" y="90000"/>
            <a:ext cx="728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668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FORM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Login 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650665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Secure login — SHA-256 password hashing with random salt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Three roles:  Admin  /  Receptionist  /  Housekeeping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"Remember Me" — credentials persisted in app settings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Wrong credentials → error shown, password field cleared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A235E"/>
                </a:solidFill>
                <a:latin typeface="Segoe UI"/>
              </a:rPr>
              <a:t>ប៉ាត  មូលសក្តា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523F651-4A18-100F-1849-7CAB354CCD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8635" y="1467537"/>
            <a:ext cx="4484815" cy="46929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1920" y="90000"/>
            <a:ext cx="728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668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FORM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Main Form — MDI 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11028825" cy="49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•   Central navigation hub for all modules</a:t>
            </a:r>
          </a:p>
          <a:p>
            <a:pPr>
              <a:spcBef>
                <a:spcPts val="800"/>
              </a:spcBef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•   Menu bar:  Booking  ·  Guest  ·  Room  ·  Housekeeping  ·  Reports</a:t>
            </a:r>
          </a:p>
          <a:p>
            <a:pPr>
              <a:spcBef>
                <a:spcPts val="800"/>
              </a:spcBef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•   Status bar shows logged-in user, role, and live clock</a:t>
            </a:r>
          </a:p>
          <a:p>
            <a:pPr>
              <a:spcBef>
                <a:spcPts val="800"/>
              </a:spcBef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•   Observer pattern initialized here on startup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A235E"/>
                </a:solidFill>
                <a:latin typeface="Segoe UI"/>
              </a:rPr>
              <a:t>ប៉ាត  មូលសក្តា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69757EA-13A6-7753-B63D-82AD82DDF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681" y="3224463"/>
            <a:ext cx="5781782" cy="3071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1600" y="90000"/>
            <a:ext cx="728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668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FORM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Guest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11028825" cy="49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Add, edit, and soft-delete guest records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Search by name, email, or phone number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View full guest profile and booking history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A235E"/>
                </a:solidFill>
                <a:latin typeface="Segoe UI"/>
              </a:rPr>
              <a:t>នឹម  រត្តនៈ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17D9371-FDE2-E81E-2484-3A3C37A21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4517" y="2723621"/>
            <a:ext cx="6272784" cy="33323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1760" y="90000"/>
            <a:ext cx="728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668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FORM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Room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11028825" cy="2272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•   Four room types:  Single  ·  Double  ·  Suite  ·  Deluxe</a:t>
            </a:r>
          </a:p>
          <a:p>
            <a:pPr>
              <a:spcBef>
                <a:spcPts val="800"/>
              </a:spcBef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•   Track status:  Available  ·  Occupied  ·  Reserved  ·  Maintenance</a:t>
            </a:r>
          </a:p>
          <a:p>
            <a:pPr>
              <a:spcBef>
                <a:spcPts val="800"/>
              </a:spcBef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•   Color-coded visual status dashboard</a:t>
            </a:r>
          </a:p>
          <a:p>
            <a:pPr>
              <a:spcBef>
                <a:spcPts val="800"/>
              </a:spcBef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•   Room objects created via </a:t>
            </a:r>
            <a:endParaRPr lang="en-US" sz="2300" b="0" dirty="0">
              <a:solidFill>
                <a:srgbClr val="1E2A3A"/>
              </a:solidFill>
              <a:latin typeface="Segoe UI"/>
            </a:endParaRPr>
          </a:p>
          <a:p>
            <a:pPr>
              <a:spcBef>
                <a:spcPts val="800"/>
              </a:spcBef>
            </a:pPr>
            <a:r>
              <a:rPr lang="en-US" sz="2300" b="0" dirty="0">
                <a:solidFill>
                  <a:srgbClr val="1E2A3A"/>
                </a:solidFill>
                <a:latin typeface="Segoe UI"/>
              </a:rPr>
              <a:t>    Factory Pattern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A235E"/>
                </a:solidFill>
                <a:latin typeface="Segoe UI"/>
              </a:rPr>
              <a:t>នឹម  រត្តនៈ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BA100C2-0BDE-2330-7350-613F9AF0F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022" y="2963621"/>
            <a:ext cx="6272784" cy="33323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6680" y="110000"/>
            <a:ext cx="728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668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FORM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Booking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11028825" cy="49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All bookings shown with color-coded status rows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Actions:  Check-In  ·  Check-Out  ·  Process Payment  ·  Cancel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Check-Out auto-generates invoice + triggers housekeeping task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A235E"/>
                </a:solidFill>
                <a:latin typeface="Segoe UI"/>
              </a:rPr>
              <a:t>នឹម  រត្តនៈ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3ED320-F6C6-0303-3311-EB2D5E5B8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444" y="2924760"/>
            <a:ext cx="6345935" cy="3371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1760" y="84856"/>
            <a:ext cx="728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668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FORM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New Booking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1" y="1360000"/>
            <a:ext cx="5494412" cy="2877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Select guest, room, and date range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Auto-calculates:  Base Price × Nights + 10% tax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Add-ons:  Breakfast  ·  Extra Bed  ·  Airport Transfer  (Decorator)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Entire booking workflow managed via Facade Pattern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dirty="0" err="1">
                <a:solidFill>
                  <a:srgbClr val="1A235E"/>
                </a:solidFill>
                <a:latin typeface="Segoe UI"/>
              </a:rPr>
              <a:t>នឹម</a:t>
            </a:r>
            <a:r>
              <a:rPr sz="2200" b="1" dirty="0">
                <a:solidFill>
                  <a:srgbClr val="1A235E"/>
                </a:solidFill>
                <a:latin typeface="Segoe UI"/>
              </a:rPr>
              <a:t>  </a:t>
            </a:r>
            <a:r>
              <a:rPr sz="2200" b="1" dirty="0" err="1">
                <a:solidFill>
                  <a:srgbClr val="1A235E"/>
                </a:solidFill>
                <a:latin typeface="Segoe UI"/>
              </a:rPr>
              <a:t>រត្តនៈ</a:t>
            </a:r>
            <a:endParaRPr sz="2200" b="1" dirty="0">
              <a:solidFill>
                <a:srgbClr val="1A235E"/>
              </a:solidFill>
              <a:latin typeface="Segoe UI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106310-5B4A-F84E-A926-2B64CB3B1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5793" y="1384303"/>
            <a:ext cx="5263031" cy="494169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30721" y="90000"/>
            <a:ext cx="728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668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FORM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Payment 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1" y="1360000"/>
            <a:ext cx="6153726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Cash — enter amount, change calculated automatically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Credit Card — Luhn validation + simulated gateway (95% success)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Strategy Pattern: payment method switched at runtime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Success → Receipt Form displayed automatically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A235E"/>
                </a:solidFill>
                <a:latin typeface="Segoe UI"/>
              </a:rPr>
              <a:t>នូ  និចាន់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3B546F-E322-71C1-22C1-E285508F1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147" y="1420000"/>
            <a:ext cx="4831098" cy="48906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6840" y="96988"/>
            <a:ext cx="728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668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FORM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Receipt 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1" y="1360000"/>
            <a:ext cx="6153726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Styled receipt shown after successful payment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Sections:  Guest info  ·  Booking details  ·  Financial breakdown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Status badge:  Paid  /  Partially Paid  /  Pending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Actions:  Print  ·  Export PDF  ·  Copy to Clipboard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A235E"/>
                </a:solidFill>
                <a:latin typeface="Segoe UI"/>
              </a:rPr>
              <a:t>នូ  និចាន់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9ACBC1-C012-AFFC-59E0-1935247F1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2483" y="1366988"/>
            <a:ext cx="4722091" cy="4792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1760" y="90000"/>
            <a:ext cx="728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668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FORM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Invoice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11028825" cy="49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Invoices auto-generated on guest checkout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Subtotal + 10% tax + discounts applied automatically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Status tracking:  Pending  ·  Paid  ·  Partially Paid  ·  Cancelled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A235E"/>
                </a:solidFill>
                <a:latin typeface="Segoe UI"/>
              </a:rPr>
              <a:t>នូ  និចាន់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CADF6F4-E81A-81B2-8179-B0D86D4A3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240" y="2708980"/>
            <a:ext cx="6300343" cy="33470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1760" y="90000"/>
            <a:ext cx="816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756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FORM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Housekeeping Tasks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11028825" cy="49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Cleaning tasks auto-created on checkout  (Observer Pattern)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Smart assignment — least-busy staff selected automatically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Status workflow:  Pending  →  In Progress  →  Completed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A235E"/>
                </a:solidFill>
                <a:latin typeface="Segoe UI"/>
              </a:rPr>
              <a:t>នូ  និចាន់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1F7B3F-60AF-C4B8-3460-8671DE826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448" y="2718763"/>
            <a:ext cx="6281928" cy="33372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6680" y="90000"/>
            <a:ext cx="816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756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FORM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Staff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11028825" cy="49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CRUD operations for all staff accounts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Role assignment:  Admin  ·  Receptionist  ·  Housekeeping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Secure password management with SHA-256 hashing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A235E"/>
                </a:solidFill>
                <a:latin typeface="Segoe UI"/>
              </a:rPr>
              <a:t>នឿន  តុណា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4F577B-C396-7983-7666-71F773AB8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9750" y="2714834"/>
            <a:ext cx="6289324" cy="334116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7000" y="90000"/>
            <a:ext cx="816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756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FORM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Daily Operations 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11028825" cy="49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Dashboard of daily hotel metrics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Tracks occupancy, bookings, payments, and outstanding tasks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A235E"/>
                </a:solidFill>
                <a:latin typeface="Segoe UI"/>
              </a:rPr>
              <a:t>នឿន  តុណា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16E48AF-AA3A-8157-4672-8F5BAA2DC5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444" y="2496855"/>
            <a:ext cx="6345935" cy="33712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6680" y="98080"/>
            <a:ext cx="904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844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Design Patterns — 7 Implemented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11028825" cy="49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100" b="0">
                <a:solidFill>
                  <a:srgbClr val="1E2A3A"/>
                </a:solidFill>
                <a:latin typeface="Segoe UI"/>
              </a:rPr>
              <a:t>•   1.  Singleton    — single shared instance</a:t>
            </a:r>
          </a:p>
          <a:p>
            <a:pPr>
              <a:spcBef>
                <a:spcPts val="800"/>
              </a:spcBef>
            </a:pPr>
            <a:r>
              <a:rPr sz="2100" b="0">
                <a:solidFill>
                  <a:srgbClr val="1E2A3A"/>
                </a:solidFill>
                <a:latin typeface="Segoe UI"/>
              </a:rPr>
              <a:t>•   2.  Factory      — creates correct room type objects</a:t>
            </a:r>
          </a:p>
          <a:p>
            <a:pPr>
              <a:spcBef>
                <a:spcPts val="800"/>
              </a:spcBef>
            </a:pPr>
            <a:r>
              <a:rPr sz="2100" b="0">
                <a:solidFill>
                  <a:srgbClr val="1E2A3A"/>
                </a:solidFill>
                <a:latin typeface="Segoe UI"/>
              </a:rPr>
              <a:t>•   3.  Strategy     — interchangeable payment algorithms</a:t>
            </a:r>
          </a:p>
          <a:p>
            <a:pPr>
              <a:spcBef>
                <a:spcPts val="800"/>
              </a:spcBef>
            </a:pPr>
            <a:r>
              <a:rPr sz="2100" b="0">
                <a:solidFill>
                  <a:srgbClr val="1E2A3A"/>
                </a:solidFill>
                <a:latin typeface="Segoe UI"/>
              </a:rPr>
              <a:t>•   4.  Observer     — auto-triggers housekeeping on checkout</a:t>
            </a:r>
          </a:p>
          <a:p>
            <a:pPr>
              <a:spcBef>
                <a:spcPts val="800"/>
              </a:spcBef>
            </a:pPr>
            <a:r>
              <a:rPr sz="2100" b="0">
                <a:solidFill>
                  <a:srgbClr val="1E2A3A"/>
                </a:solidFill>
                <a:latin typeface="Segoe UI"/>
              </a:rPr>
              <a:t>•   5.  Repository   — clean, centralised data access layer</a:t>
            </a:r>
          </a:p>
          <a:p>
            <a:pPr>
              <a:spcBef>
                <a:spcPts val="800"/>
              </a:spcBef>
            </a:pPr>
            <a:r>
              <a:rPr sz="2100" b="0">
                <a:solidFill>
                  <a:srgbClr val="1E2A3A"/>
                </a:solidFill>
                <a:latin typeface="Segoe UI"/>
              </a:rPr>
              <a:t>•   6.  Facade       — simplified booking workflow</a:t>
            </a:r>
          </a:p>
          <a:p>
            <a:pPr>
              <a:spcBef>
                <a:spcPts val="800"/>
              </a:spcBef>
            </a:pPr>
            <a:r>
              <a:rPr sz="2100" b="0">
                <a:solidFill>
                  <a:srgbClr val="1E2A3A"/>
                </a:solidFill>
                <a:latin typeface="Segoe UI"/>
              </a:rPr>
              <a:t>•   7.  Decorator    — stackable room add-on services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0A435D-F229-2B19-3708-264A84D0D9C4}"/>
              </a:ext>
            </a:extLst>
          </p:cNvPr>
          <p:cNvSpPr txBox="1"/>
          <p:nvPr/>
        </p:nvSpPr>
        <p:spPr>
          <a:xfrm>
            <a:off x="-1" y="642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dirty="0" err="1">
                <a:solidFill>
                  <a:srgbClr val="1A235E"/>
                </a:solidFill>
                <a:latin typeface="Segoe UI"/>
              </a:rPr>
              <a:t>រុំ</a:t>
            </a:r>
            <a:r>
              <a:rPr sz="2200" b="1" dirty="0">
                <a:solidFill>
                  <a:srgbClr val="1A235E"/>
                </a:solidFill>
                <a:latin typeface="Segoe UI"/>
              </a:rPr>
              <a:t>  </a:t>
            </a:r>
            <a:r>
              <a:rPr sz="2200" b="1" dirty="0" err="1">
                <a:solidFill>
                  <a:srgbClr val="1A235E"/>
                </a:solidFill>
                <a:latin typeface="Segoe UI"/>
              </a:rPr>
              <a:t>វីរៈ</a:t>
            </a:r>
            <a:endParaRPr sz="2200" b="1" dirty="0">
              <a:solidFill>
                <a:srgbClr val="1A235E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1600" y="100000"/>
            <a:ext cx="992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932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PATTERN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Singleton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11028825" cy="49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Guarantees only one instance exists throughout the app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DatabaseManager — single thread-safe connection pool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RoomSubject — one central observable event hub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Double-check locking ensures thread safety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82C26B-21FB-87D5-958B-E15917845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905" y="3280880"/>
            <a:ext cx="6217013" cy="26130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7B805C1-5ADC-388D-3684-D988DE15B5B1}"/>
              </a:ext>
            </a:extLst>
          </p:cNvPr>
          <p:cNvSpPr txBox="1"/>
          <p:nvPr/>
        </p:nvSpPr>
        <p:spPr>
          <a:xfrm>
            <a:off x="-1" y="642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dirty="0" err="1">
                <a:solidFill>
                  <a:srgbClr val="1A235E"/>
                </a:solidFill>
                <a:latin typeface="Segoe UI"/>
              </a:rPr>
              <a:t>រុំ</a:t>
            </a:r>
            <a:r>
              <a:rPr sz="2200" b="1" dirty="0">
                <a:solidFill>
                  <a:srgbClr val="1A235E"/>
                </a:solidFill>
                <a:latin typeface="Segoe UI"/>
              </a:rPr>
              <a:t>  </a:t>
            </a:r>
            <a:r>
              <a:rPr sz="2200" b="1" dirty="0" err="1">
                <a:solidFill>
                  <a:srgbClr val="1A235E"/>
                </a:solidFill>
                <a:latin typeface="Segoe UI"/>
              </a:rPr>
              <a:t>វីរៈ</a:t>
            </a:r>
            <a:endParaRPr sz="2200" b="1" dirty="0">
              <a:solidFill>
                <a:srgbClr val="1A235E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25320" y="90000"/>
            <a:ext cx="992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932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PATTERN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Factory 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1" y="1360000"/>
            <a:ext cx="4788914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 err="1">
                <a:solidFill>
                  <a:srgbClr val="1E2A3A"/>
                </a:solidFill>
                <a:latin typeface="Segoe UI"/>
              </a:rPr>
              <a:t>RoomFactory.CreateRoom</a:t>
            </a:r>
            <a:r>
              <a:rPr sz="2300" b="0" dirty="0">
                <a:solidFill>
                  <a:srgbClr val="1E2A3A"/>
                </a:solidFill>
                <a:latin typeface="Segoe UI"/>
              </a:rPr>
              <a:t>(type) returns the correct subclass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4 types:  Single  ·  Double  ·  Suite  ·  Deluxe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Each type carries preset defaults: price, bed, area, occupancy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UI never references concrete room classes directly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AFEF642-ED3D-85FC-70FF-A42BEAB00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914" y="1551427"/>
            <a:ext cx="6239911" cy="459714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2A24529-F430-7F1A-7F31-05BF4711D77B}"/>
              </a:ext>
            </a:extLst>
          </p:cNvPr>
          <p:cNvSpPr txBox="1"/>
          <p:nvPr/>
        </p:nvSpPr>
        <p:spPr>
          <a:xfrm>
            <a:off x="-1" y="642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dirty="0" err="1">
                <a:solidFill>
                  <a:srgbClr val="1A235E"/>
                </a:solidFill>
                <a:latin typeface="Segoe UI"/>
              </a:rPr>
              <a:t>រុំ</a:t>
            </a:r>
            <a:r>
              <a:rPr sz="2200" b="1" dirty="0">
                <a:solidFill>
                  <a:srgbClr val="1A235E"/>
                </a:solidFill>
                <a:latin typeface="Segoe UI"/>
              </a:rPr>
              <a:t>  </a:t>
            </a:r>
            <a:r>
              <a:rPr sz="2200" b="1" dirty="0" err="1">
                <a:solidFill>
                  <a:srgbClr val="1A235E"/>
                </a:solidFill>
                <a:latin typeface="Segoe UI"/>
              </a:rPr>
              <a:t>វីរៈ</a:t>
            </a:r>
            <a:endParaRPr sz="2200" b="1" dirty="0">
              <a:solidFill>
                <a:srgbClr val="1A235E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20560" y="90000"/>
            <a:ext cx="992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932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PATTERN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4756041" cy="4293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Defines interchangeable payment processing algorithms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 err="1">
                <a:solidFill>
                  <a:srgbClr val="1E2A3A"/>
                </a:solidFill>
                <a:latin typeface="Segoe UI"/>
              </a:rPr>
              <a:t>CashPaymentStrategy</a:t>
            </a:r>
            <a:r>
              <a:rPr sz="2300" b="0" dirty="0">
                <a:solidFill>
                  <a:srgbClr val="1E2A3A"/>
                </a:solidFill>
                <a:latin typeface="Segoe UI"/>
              </a:rPr>
              <a:t> — records transaction and computes change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 err="1">
                <a:solidFill>
                  <a:srgbClr val="1E2A3A"/>
                </a:solidFill>
                <a:latin typeface="Segoe UI"/>
              </a:rPr>
              <a:t>CreditCardPaymentStrategy</a:t>
            </a:r>
            <a:r>
              <a:rPr sz="2300" b="0" dirty="0">
                <a:solidFill>
                  <a:srgbClr val="1E2A3A"/>
                </a:solidFill>
                <a:latin typeface="Segoe UI"/>
              </a:rPr>
              <a:t> — Luhn check + gateway </a:t>
            </a:r>
            <a:r>
              <a:rPr sz="2300" b="0" dirty="0" err="1">
                <a:solidFill>
                  <a:srgbClr val="1E2A3A"/>
                </a:solidFill>
                <a:latin typeface="Segoe UI"/>
              </a:rPr>
              <a:t>authorisation</a:t>
            </a:r>
            <a:endParaRPr sz="2300" b="0" dirty="0">
              <a:solidFill>
                <a:srgbClr val="1E2A3A"/>
              </a:solidFill>
              <a:latin typeface="Segoe UI"/>
            </a:endParaRP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 err="1">
                <a:solidFill>
                  <a:srgbClr val="1E2A3A"/>
                </a:solidFill>
                <a:latin typeface="Segoe UI"/>
              </a:rPr>
              <a:t>PaymentContext</a:t>
            </a:r>
            <a:r>
              <a:rPr sz="2300" b="0" dirty="0">
                <a:solidFill>
                  <a:srgbClr val="1E2A3A"/>
                </a:solidFill>
                <a:latin typeface="Segoe UI"/>
              </a:rPr>
              <a:t> switches strategy at runtime based on user choice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0EB75A-8127-80D5-0C76-26EEA4E41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041" y="1742539"/>
            <a:ext cx="6272784" cy="414292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526C68D-EAAC-C074-ADC5-67D95EBB3F2A}"/>
              </a:ext>
            </a:extLst>
          </p:cNvPr>
          <p:cNvSpPr txBox="1"/>
          <p:nvPr/>
        </p:nvSpPr>
        <p:spPr>
          <a:xfrm>
            <a:off x="-1" y="642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dirty="0" err="1">
                <a:solidFill>
                  <a:srgbClr val="1A235E"/>
                </a:solidFill>
                <a:latin typeface="Segoe UI"/>
              </a:rPr>
              <a:t>រុំ</a:t>
            </a:r>
            <a:r>
              <a:rPr sz="2200" b="1" dirty="0">
                <a:solidFill>
                  <a:srgbClr val="1A235E"/>
                </a:solidFill>
                <a:latin typeface="Segoe UI"/>
              </a:rPr>
              <a:t>  </a:t>
            </a:r>
            <a:r>
              <a:rPr sz="2200" b="1" dirty="0" err="1">
                <a:solidFill>
                  <a:srgbClr val="1A235E"/>
                </a:solidFill>
                <a:latin typeface="Segoe UI"/>
              </a:rPr>
              <a:t>វីរៈ</a:t>
            </a:r>
            <a:endParaRPr sz="2200" b="1" dirty="0">
              <a:solidFill>
                <a:srgbClr val="1A235E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1600" y="84856"/>
            <a:ext cx="992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932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PATTERN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Observer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7854189" cy="2877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 err="1">
                <a:solidFill>
                  <a:srgbClr val="1E2A3A"/>
                </a:solidFill>
                <a:latin typeface="Segoe UI"/>
              </a:rPr>
              <a:t>RoomSubject</a:t>
            </a:r>
            <a:r>
              <a:rPr sz="2300" b="0" dirty="0">
                <a:solidFill>
                  <a:srgbClr val="1E2A3A"/>
                </a:solidFill>
                <a:latin typeface="Segoe UI"/>
              </a:rPr>
              <a:t> broadcasts room events to all registered observers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On checkout → </a:t>
            </a:r>
            <a:r>
              <a:rPr sz="2300" b="0" dirty="0" err="1">
                <a:solidFill>
                  <a:srgbClr val="1E2A3A"/>
                </a:solidFill>
                <a:latin typeface="Segoe UI"/>
              </a:rPr>
              <a:t>HousekeepingObserver</a:t>
            </a:r>
            <a:r>
              <a:rPr sz="2300" b="0" dirty="0">
                <a:solidFill>
                  <a:srgbClr val="1E2A3A"/>
                </a:solidFill>
                <a:latin typeface="Segoe UI"/>
              </a:rPr>
              <a:t> auto-creates cleaning task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Smart assignment: least-busy housekeeping staff selected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Checkout code stays decoupled — only calls Notify()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832A8F-4396-AE5E-1CE5-8A8D0CFC9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6696" y="1432841"/>
            <a:ext cx="2942130" cy="48149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2127A-1FFF-320B-CC82-CB93AF58F05A}"/>
              </a:ext>
            </a:extLst>
          </p:cNvPr>
          <p:cNvSpPr txBox="1"/>
          <p:nvPr/>
        </p:nvSpPr>
        <p:spPr>
          <a:xfrm>
            <a:off x="-1" y="642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dirty="0" err="1">
                <a:solidFill>
                  <a:srgbClr val="1A235E"/>
                </a:solidFill>
                <a:latin typeface="Segoe UI"/>
              </a:rPr>
              <a:t>រុំ</a:t>
            </a:r>
            <a:r>
              <a:rPr sz="2200" b="1" dirty="0">
                <a:solidFill>
                  <a:srgbClr val="1A235E"/>
                </a:solidFill>
                <a:latin typeface="Segoe UI"/>
              </a:rPr>
              <a:t>  </a:t>
            </a:r>
            <a:r>
              <a:rPr sz="2200" b="1" dirty="0" err="1">
                <a:solidFill>
                  <a:srgbClr val="1A235E"/>
                </a:solidFill>
                <a:latin typeface="Segoe UI"/>
              </a:rPr>
              <a:t>វីរៈ</a:t>
            </a:r>
            <a:endParaRPr sz="2200" b="1" dirty="0">
              <a:solidFill>
                <a:srgbClr val="1A235E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1920" y="100000"/>
            <a:ext cx="99200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1052917" cy="301758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 dirty="0">
                <a:solidFill>
                  <a:srgbClr val="F0C02F"/>
                </a:solidFill>
                <a:latin typeface="Segoe UI"/>
              </a:rPr>
              <a:t>PATTERN </a:t>
            </a:r>
            <a:r>
              <a:rPr lang="en-US" sz="1300" b="1" dirty="0">
                <a:solidFill>
                  <a:srgbClr val="F0C02F"/>
                </a:solidFill>
                <a:latin typeface="Segoe UI"/>
              </a:rPr>
              <a:t>5</a:t>
            </a:r>
            <a:endParaRPr sz="1300" b="1" dirty="0">
              <a:solidFill>
                <a:srgbClr val="F0C02F"/>
              </a:solidFill>
              <a:latin typeface="Sego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Decorator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11028825" cy="49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Dynamically adds services to any room type at booking time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Breakfast +$15/night  ·  Extra Bed +$30/night  ·  Airport Transfer +$25/night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Decorators stack:  Double($80) + Breakfast + Extra Bed = $125/night</a:t>
            </a:r>
          </a:p>
          <a:p>
            <a:pPr>
              <a:spcBef>
                <a:spcPts val="800"/>
              </a:spcBef>
            </a:pPr>
            <a:r>
              <a:rPr sz="2300" b="0">
                <a:solidFill>
                  <a:srgbClr val="1E2A3A"/>
                </a:solidFill>
                <a:latin typeface="Segoe UI"/>
              </a:rPr>
              <a:t>•   Open/Closed — new services added without touching existing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7DE1D0-03DF-4FE9-183B-8DB21B26D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447" y="3429000"/>
            <a:ext cx="6359930" cy="25030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2295FC2-9107-F508-A2DA-8E4397DDA258}"/>
              </a:ext>
            </a:extLst>
          </p:cNvPr>
          <p:cNvSpPr txBox="1"/>
          <p:nvPr/>
        </p:nvSpPr>
        <p:spPr>
          <a:xfrm>
            <a:off x="-1" y="642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dirty="0" err="1">
                <a:solidFill>
                  <a:srgbClr val="1A235E"/>
                </a:solidFill>
                <a:latin typeface="Segoe UI"/>
              </a:rPr>
              <a:t>រុំ</a:t>
            </a:r>
            <a:r>
              <a:rPr sz="2200" b="1" dirty="0">
                <a:solidFill>
                  <a:srgbClr val="1A235E"/>
                </a:solidFill>
                <a:latin typeface="Segoe UI"/>
              </a:rPr>
              <a:t>  </a:t>
            </a:r>
            <a:r>
              <a:rPr sz="2200" b="1" dirty="0" err="1">
                <a:solidFill>
                  <a:srgbClr val="1A235E"/>
                </a:solidFill>
                <a:latin typeface="Segoe UI"/>
              </a:rPr>
              <a:t>វីរៈ</a:t>
            </a:r>
            <a:endParaRPr sz="2200" b="1" dirty="0">
              <a:solidFill>
                <a:srgbClr val="1A235E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0000" y="90000"/>
            <a:ext cx="1339920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1279920" cy="301758"/>
          </a:xfrm>
          <a:prstGeom prst="rect">
            <a:avLst/>
          </a:prstGeom>
          <a:noFill/>
        </p:spPr>
        <p:txBody>
          <a:bodyPr wrap="square" tIns="55000">
            <a:spAutoFit/>
          </a:bodyPr>
          <a:lstStyle/>
          <a:p>
            <a:r>
              <a:rPr sz="1300" b="1" dirty="0">
                <a:solidFill>
                  <a:srgbClr val="F0C02F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430000"/>
            <a:ext cx="1106882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235E"/>
                </a:solidFill>
                <a:latin typeface="Segoe UI"/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000" y="1290000"/>
            <a:ext cx="11068825" cy="12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0000" y="1360000"/>
            <a:ext cx="11028825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Covers complete hotel lifecycle end-to-end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7 design patterns applied to real architectural challenges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Secure:  SHA-256 hashing  ·  Role-based access  ·  Luhn validation</a:t>
            </a:r>
          </a:p>
          <a:p>
            <a:pPr marL="342900" indent="-34290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300" b="0" dirty="0">
                <a:solidFill>
                  <a:srgbClr val="1E2A3A"/>
                </a:solidFill>
                <a:latin typeface="Segoe UI"/>
              </a:rPr>
              <a:t>Extensible: new payment methods and services add without touching existing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A235E"/>
                </a:solidFill>
                <a:latin typeface="Segoe UI"/>
              </a:rPr>
              <a:t>នឿន  តុណា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0000" y="90000"/>
            <a:ext cx="799408" cy="280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0000" y="90000"/>
            <a:ext cx="500000" cy="280000"/>
          </a:xfrm>
          <a:prstGeom prst="rect">
            <a:avLst/>
          </a:prstGeom>
          <a:noFill/>
        </p:spPr>
        <p:txBody>
          <a:bodyPr wrap="none" tIns="55000">
            <a:spAutoFit/>
          </a:bodyPr>
          <a:lstStyle/>
          <a:p>
            <a:r>
              <a:rPr sz="1300" b="1">
                <a:solidFill>
                  <a:srgbClr val="F0C02F"/>
                </a:solidFill>
                <a:latin typeface="Segoe U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1400000"/>
            <a:ext cx="1106882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400" b="1" dirty="0">
                <a:solidFill>
                  <a:srgbClr val="1A235E"/>
                </a:solidFill>
                <a:latin typeface="Segoe UI"/>
              </a:rPr>
              <a:t>Project Demo</a:t>
            </a:r>
            <a:r>
              <a:rPr sz="6400" b="1" dirty="0">
                <a:solidFill>
                  <a:srgbClr val="1A235E"/>
                </a:solidFill>
                <a:latin typeface="Segoe UI"/>
              </a:rPr>
              <a:t>🎬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30000"/>
            <a:ext cx="12188825" cy="2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0000" y="6368000"/>
            <a:ext cx="11068825" cy="10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0" y="6398000"/>
            <a:ext cx="12188825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A235E"/>
                </a:solidFill>
                <a:latin typeface="Segoe UI"/>
              </a:rPr>
              <a:t>នឿន  តុណា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1000</Words>
  <Application>Microsoft Office PowerPoint</Application>
  <PresentationFormat>Custom</PresentationFormat>
  <Paragraphs>180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Khmer OS Muol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rom vireak</cp:lastModifiedBy>
  <cp:revision>4</cp:revision>
  <dcterms:created xsi:type="dcterms:W3CDTF">2013-01-27T09:14:16Z</dcterms:created>
  <dcterms:modified xsi:type="dcterms:W3CDTF">2026-03-09T07:57:48Z</dcterms:modified>
  <cp:category/>
</cp:coreProperties>
</file>