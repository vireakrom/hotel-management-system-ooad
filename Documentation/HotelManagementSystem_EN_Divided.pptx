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130000"/>
            <a:ext cx="11068825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5657A"/>
                </a:solidFill>
                <a:latin typeface="Segoe UI"/>
              </a:rPr>
              <a:t>សាកលវិទ្យាល័យភូមិន្ទភ្នំពេញ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480000"/>
            <a:ext cx="11068825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A235E"/>
                </a:solidFill>
                <a:latin typeface="Segoe UI"/>
              </a:rPr>
              <a:t>Hotel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540000"/>
            <a:ext cx="11068825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55657A"/>
                </a:solidFill>
                <a:latin typeface="Segoe UI"/>
              </a:rPr>
              <a:t>Desktop Application   ·   C# Windows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4412" y="1990000"/>
            <a:ext cx="3200000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0000" y="2090000"/>
            <a:ext cx="11068825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5657A"/>
                </a:solidFill>
                <a:latin typeface="Segoe UI"/>
              </a:rPr>
              <a:t>Team Members  /  សមាជិក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460000"/>
            <a:ext cx="1106882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35E"/>
                </a:solidFill>
                <a:latin typeface="Segoe UI"/>
              </a:rPr>
              <a:t>១. រុំ  វីរៈ          ២. ប៉ាត  មូលសក្តា          ៣. នឹម  រត្តនៈ</a:t>
            </a:r>
          </a:p>
          <a:p>
            <a:pPr algn="ctr">
              <a:spcBef>
                <a:spcPts val="1000"/>
              </a:spcBef>
            </a:pPr>
            <a:r>
              <a:rPr sz="2000" b="1">
                <a:solidFill>
                  <a:srgbClr val="1A235E"/>
                </a:solidFill>
                <a:latin typeface="Segoe UI"/>
              </a:rPr>
              <a:t>៤. នូ  និចាន់          ៥. នឿន  តុណា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3000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0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720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0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0000" y="120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2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4412" y="12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18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   —   Login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4412" y="18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000" y="244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" y="24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2   —   Main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4412" y="24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308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3   —   Guest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4412" y="308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000" y="368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000" y="370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4   —   Room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4412" y="370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00" y="43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5   —   Booking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4412" y="43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0000" y="492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000" y="49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6   —   New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4412" y="49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00" y="55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7   —  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4412" y="55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4412" y="120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4412" y="12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8   —   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8824" y="12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4412" y="18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9   —   Invoice Mgmt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8824" y="18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4412" y="244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4412" y="24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10  —   Housekeeping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8824" y="24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4412" y="308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11  —   Staff Mgmt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8824" y="308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4412" y="368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4412" y="370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Form 12  —   Daily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8824" y="370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4412" y="432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Design Patterns  (7 patterns)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8824" y="432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16 – 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4412" y="4920000"/>
            <a:ext cx="5454412" cy="5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4412" y="494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8824" y="494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4412" y="5560000"/>
            <a:ext cx="4974412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2A3A"/>
                </a:solidFill>
                <a:latin typeface="Segoe UI"/>
              </a:rPr>
              <a:t>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8824" y="5560000"/>
            <a:ext cx="4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1A235E"/>
                </a:solidFill>
                <a:latin typeface="Segoe UI"/>
              </a:rPr>
              <a:t>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3000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04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844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Desktop hotel management platform built in C# Windows Forms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Covers complete lifecycle: booking → check-in → checkout → payment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Role-based access:  Admin  ·  Receptionist  ·  Housekeeping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12 operational forms  ·  Layered architecture  ·  7 design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ប៉ាត  មូលសក្តា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Login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Secure login — SHA-256 password hashing with random salt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Three roles:  Admin  /  Receptionist  /  Housekeeping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"Remember Me" — credentials persisted in app settings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Wrong credentials → error shown, password field cleared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ប៉ាត  មូលសក្តា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Main Form — MDI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Central navigation hub for all modules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Menu bar:  Booking  ·  Guest  ·  Room  ·  Housekeeping  ·  Reports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Status bar shows logged-in user, role, and live clock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Observer pattern initialized here on startup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ប៉ាត  មូលសក្តា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Guest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Add, edit, and soft-delete guest records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Search by name, email, or phone number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View full guest profile and booking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នឹម  រត្តនៈ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Room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Four room types:  Single  ·  Double  ·  Suite  ·  Deluxe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Track status:  Available  ·  Occupied  ·  Reserved  ·  Maintenance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Color-coded visual status dashboard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Room objects created via Factory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នឹម  រត្តនៈ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Booking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All bookings shown with color-coded status rows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Actions:  Check-In  ·  Check-Out  ·  Process Payment  ·  Cancel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Check-Out auto-generates invoice + triggers housekeeping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នឹម  រត្តនៈ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New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Select guest, room, and date range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Auto-calculates:  Base Price × Nights + 10% tax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Add-ons:  Breakfast  ·  Extra Bed  ·  Airport Transfer  (Decorator)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Entire booking workflow managed via Facade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នឹម  រត្តនៈ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Payment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Cash — enter amount, change calculated automatically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Credit Card — Luhn validation + simulated gateway (95% success)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Strategy Pattern: payment method switched at runtime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Success → Receipt Form displayed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Receipt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Styled receipt shown after successful payment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Sections:  Guest info  ·  Booking details  ·  Financial breakdown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Status badge:  ✓ Paid  /  ◑ Partially Paid  /  ○ Pending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Actions:  Print  ·  Export PDF  ·  Copy to Clipboard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728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668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Invoice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Invoices auto-generated on guest checkout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Subtotal + 10% tax + discounts applied automatically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Status tracking:  Pending  ·  Paid  ·  Partially Paid  ·  Cancelled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816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756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Housekeeping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Cleaning tasks auto-created on checkout  (Observer Pattern)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Smart assignment — least-busy staff selected automatically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Status workflow:  Pending  →  In Progress  → 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នូ  និចាន់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816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756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Staff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CRUD operations for all staff accounts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Role assignment:  Admin  ·  Receptionist  ·  Housekeeping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Secure password management with SHA-256 hashing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816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756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FORM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Daily Operations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Dashboard of daily hotel metrics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Tracks occupancy, bookings, payments, and outstanding 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04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844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Design Patterns — 7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100" b="0">
                <a:solidFill>
                  <a:srgbClr val="1E2A3A"/>
                </a:solidFill>
                <a:latin typeface="Segoe UI"/>
              </a:rPr>
              <a:t>•   1.  Singleton    — single shared instance</a:t>
            </a:r>
          </a:p>
          <a:p>
            <a:pPr>
              <a:spcBef>
                <a:spcPts val="800"/>
              </a:spcBef>
            </a:pPr>
            <a:r>
              <a:rPr sz="2100" b="0">
                <a:solidFill>
                  <a:srgbClr val="1E2A3A"/>
                </a:solidFill>
                <a:latin typeface="Segoe UI"/>
              </a:rPr>
              <a:t>•   2.  Factory      — creates correct room type objects</a:t>
            </a:r>
          </a:p>
          <a:p>
            <a:pPr>
              <a:spcBef>
                <a:spcPts val="800"/>
              </a:spcBef>
            </a:pPr>
            <a:r>
              <a:rPr sz="2100" b="0">
                <a:solidFill>
                  <a:srgbClr val="1E2A3A"/>
                </a:solidFill>
                <a:latin typeface="Segoe UI"/>
              </a:rPr>
              <a:t>•   3.  Strategy     — interchangeable payment algorithms</a:t>
            </a:r>
          </a:p>
          <a:p>
            <a:pPr>
              <a:spcBef>
                <a:spcPts val="800"/>
              </a:spcBef>
            </a:pPr>
            <a:r>
              <a:rPr sz="2100" b="0">
                <a:solidFill>
                  <a:srgbClr val="1E2A3A"/>
                </a:solidFill>
                <a:latin typeface="Segoe UI"/>
              </a:rPr>
              <a:t>•   4.  Observer     — auto-triggers housekeeping on checkout</a:t>
            </a:r>
          </a:p>
          <a:p>
            <a:pPr>
              <a:spcBef>
                <a:spcPts val="800"/>
              </a:spcBef>
            </a:pPr>
            <a:r>
              <a:rPr sz="2100" b="0">
                <a:solidFill>
                  <a:srgbClr val="1E2A3A"/>
                </a:solidFill>
                <a:latin typeface="Segoe UI"/>
              </a:rPr>
              <a:t>•   5.  Repository   — clean, centralised data access layer</a:t>
            </a:r>
          </a:p>
          <a:p>
            <a:pPr>
              <a:spcBef>
                <a:spcPts val="800"/>
              </a:spcBef>
            </a:pPr>
            <a:r>
              <a:rPr sz="2100" b="0">
                <a:solidFill>
                  <a:srgbClr val="1E2A3A"/>
                </a:solidFill>
                <a:latin typeface="Segoe UI"/>
              </a:rPr>
              <a:t>•   6.  Facade       — simplified booking workflow</a:t>
            </a:r>
          </a:p>
          <a:p>
            <a:pPr>
              <a:spcBef>
                <a:spcPts val="800"/>
              </a:spcBef>
            </a:pPr>
            <a:r>
              <a:rPr sz="2100" b="0">
                <a:solidFill>
                  <a:srgbClr val="1E2A3A"/>
                </a:solidFill>
                <a:latin typeface="Segoe UI"/>
              </a:rPr>
              <a:t>•   7.  Decorator    — stackable room add-on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Singleton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Guarantees only one instance exists throughout the app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DatabaseManager — single thread-safe connection pool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RoomSubject — one central observable event hub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Double-check locking ensures thread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Factory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RoomFactory.CreateRoom(type) returns the correct subclass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4 types:  Single  ·  Double  ·  Suite  ·  Deluxe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Each type carries preset defaults: price, bed, area, occupancy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UI never references concrete room classes directly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Defines interchangeable payment processing algorithms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CashPaymentStrategy — records transaction and computes change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CreditCardPaymentStrategy — Luhn check + gateway authorisation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PaymentContext switches strategy at runtime based on user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Observer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RoomSubject broadcasts room events to all registered observers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On checkout → HousekeepingObserver auto-creates cleaning task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Smart assignment: least-busy housekeeping staff selected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Checkout code stays decoupled — only calls Notify()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Generic IRepository&lt;T&gt;:  Insert · GetById · GetAll · Update · Delete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7 repositories cover every entity: Guest, Room, Booking, Invoice…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All SQL queries centralised — no raw SQL in UI or business layer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Parameterised queries prevent SQL injection throughout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Facade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BookingFacade wraps an 8-step booking workflow in one call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Coordinates:  GuestRepo  ·  RoomRepo  ·  BookingRepo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Validates dates, room capacity, and date conflict automatically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NewBookingForm only needs to call CreateBooking()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992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932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PATTERN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Decorator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Dynamically adds services to any room type at booking time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Breakfast +$15/night  ·  Extra Bed +$30/night  ·  Airport Transfer +$25/night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Decorators stack:  Double($80) + Breakfast + Extra Bed = $125/night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Open/Closed — new services added without touching existing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រុំ  វីរៈ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1080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1020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30000"/>
            <a:ext cx="1106882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35E"/>
                </a:solidFill>
                <a:latin typeface="Segoe U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000" y="1290000"/>
            <a:ext cx="11068825" cy="12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360000"/>
            <a:ext cx="11028825" cy="49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Covers complete hotel lifecycle end-to-end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7 design patterns applied to real architectural challenges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Secure:  SHA-256 hashing  ·  Role-based access  ·  Luhn validation</a:t>
            </a:r>
          </a:p>
          <a:p>
            <a:pPr>
              <a:spcBef>
                <a:spcPts val="800"/>
              </a:spcBef>
            </a:pPr>
            <a:r>
              <a:rPr sz="2300" b="0">
                <a:solidFill>
                  <a:srgbClr val="1E2A3A"/>
                </a:solidFill>
                <a:latin typeface="Segoe UI"/>
              </a:rPr>
              <a:t>•   Extensible: new payment methods and services add without touching existing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90000"/>
            <a:ext cx="500000" cy="280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90000"/>
            <a:ext cx="500000" cy="280000"/>
          </a:xfrm>
          <a:prstGeom prst="rect">
            <a:avLst/>
          </a:prstGeom>
          <a:noFill/>
        </p:spPr>
        <p:txBody>
          <a:bodyPr wrap="none" tIns="55000">
            <a:spAutoFit/>
          </a:bodyPr>
          <a:lstStyle/>
          <a:p>
            <a:r>
              <a:rPr sz="1300" b="1">
                <a:solidFill>
                  <a:srgbClr val="F0C02F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400000"/>
            <a:ext cx="11068825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A235E"/>
                </a:solidFill>
                <a:latin typeface="Segoe UI"/>
              </a:rPr>
              <a:t>It’s Demo Time!  🎬</a:t>
            </a:r>
          </a:p>
          <a:p>
            <a:pPr algn="ctr">
              <a:spcBef>
                <a:spcPts val="1600"/>
              </a:spcBef>
            </a:pPr>
            <a:r>
              <a:rPr sz="2600" b="0">
                <a:solidFill>
                  <a:srgbClr val="55657A"/>
                </a:solidFill>
                <a:latin typeface="Segoe UI"/>
              </a:rPr>
              <a:t>We will now switch to the live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0000"/>
            <a:ext cx="12188825" cy="28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0000" y="6368000"/>
            <a:ext cx="11068825" cy="10000"/>
          </a:xfrm>
          <a:prstGeom prst="rect">
            <a:avLst/>
          </a:prstGeom>
          <a:solidFill>
            <a:srgbClr val="F0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98000"/>
            <a:ext cx="12188825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235E"/>
                </a:solidFill>
                <a:latin typeface="Segoe UI"/>
              </a:rPr>
              <a:t>នឿន  តុណា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